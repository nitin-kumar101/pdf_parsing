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778c5c5a2a4cac" /><Relationship Type="http://schemas.openxmlformats.org/officeDocument/2006/relationships/extended-properties" Target="/docProps/app.xml" Id="R10164aca58c44860" /><Relationship Type="http://schemas.openxmlformats.org/officeDocument/2006/relationships/officeDocument" Target="/ppt/presentation.xml" Id="R647ab8700ae44a52" /></Relationships>
</file>

<file path=ppt/presentation.xml><?xml version="1.0" encoding="utf-8"?>
<p:presentation xmlns:p="http://schemas.openxmlformats.org/presentationml/2006/main">
  <p:sldMasterIdLst>
    <p:sldMasterId xmlns:r="http://schemas.openxmlformats.org/officeDocument/2006/relationships" id="2147483648" r:id="R628e7c24ce154d32"/>
  </p:sldMasterIdLst>
  <p:notesMasterIdLst>
    <p:notesMasterId xmlns:r="http://schemas.openxmlformats.org/officeDocument/2006/relationships" r:id="R6170c9cf6f244c4f"/>
  </p:notesMasterIdLst>
  <p:sldIdLst>
    <p:sldId xmlns:r="http://schemas.openxmlformats.org/officeDocument/2006/relationships" id="256" r:id="R7eeeb478638e40ac"/>
    <p:sldId xmlns:r="http://schemas.openxmlformats.org/officeDocument/2006/relationships" id="257" r:id="Re27708c3c15c4f02"/>
    <p:sldId xmlns:r="http://schemas.openxmlformats.org/officeDocument/2006/relationships" id="258" r:id="Rc1d07775defc4f13"/>
    <p:sldId xmlns:r="http://schemas.openxmlformats.org/officeDocument/2006/relationships" id="259" r:id="Re6006b479c70416d"/>
    <p:sldId xmlns:r="http://schemas.openxmlformats.org/officeDocument/2006/relationships" id="260" r:id="Rd894dc12fcca4da1"/>
    <p:sldId xmlns:r="http://schemas.openxmlformats.org/officeDocument/2006/relationships" id="261" r:id="Rd14b79acdb684e3d"/>
    <p:sldId xmlns:r="http://schemas.openxmlformats.org/officeDocument/2006/relationships" id="262" r:id="R005d21adc278454a"/>
    <p:sldId xmlns:r="http://schemas.openxmlformats.org/officeDocument/2006/relationships" id="263" r:id="R80b6ff73614c469c"/>
    <p:sldId xmlns:r="http://schemas.openxmlformats.org/officeDocument/2006/relationships" id="264" r:id="R9dcdcd1ab7b24fdd"/>
    <p:sldId xmlns:r="http://schemas.openxmlformats.org/officeDocument/2006/relationships" id="265" r:id="R370e4a2028cd4c46"/>
    <p:sldId xmlns:r="http://schemas.openxmlformats.org/officeDocument/2006/relationships" id="266" r:id="Rb2e6268cfb414eb9"/>
    <p:sldId xmlns:r="http://schemas.openxmlformats.org/officeDocument/2006/relationships" id="267" r:id="R16ece86a8b804dbf"/>
    <p:sldId xmlns:r="http://schemas.openxmlformats.org/officeDocument/2006/relationships" id="268" r:id="R90acf8c5657245d2"/>
    <p:sldId xmlns:r="http://schemas.openxmlformats.org/officeDocument/2006/relationships" id="269" r:id="R9cb3be8e03e54878"/>
    <p:sldId xmlns:r="http://schemas.openxmlformats.org/officeDocument/2006/relationships" id="270" r:id="R000e399f1f0e48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9e1dd5e5614dad" /><Relationship Type="http://schemas.openxmlformats.org/officeDocument/2006/relationships/slideMaster" Target="/ppt/slideMasters/slideMaster1.xml" Id="R628e7c24ce154d32" /><Relationship Type="http://schemas.openxmlformats.org/officeDocument/2006/relationships/notesMaster" Target="/ppt/notesMasters/notesMaster1.xml" Id="R6170c9cf6f244c4f" /><Relationship Type="http://schemas.openxmlformats.org/officeDocument/2006/relationships/presProps" Target="/ppt/presProps.xml" Id="Ra801358cadd1441f" /><Relationship Type="http://schemas.openxmlformats.org/officeDocument/2006/relationships/tableStyles" Target="/ppt/tableStyles.xml" Id="Rf15e0d06cfd24817" /><Relationship Type="http://schemas.openxmlformats.org/officeDocument/2006/relationships/slide" Target="/ppt/slides/slide1.xml" Id="R7eeeb478638e40ac" /><Relationship Type="http://schemas.openxmlformats.org/officeDocument/2006/relationships/slide" Target="/ppt/slides/slide2.xml" Id="Re27708c3c15c4f02" /><Relationship Type="http://schemas.openxmlformats.org/officeDocument/2006/relationships/slide" Target="/ppt/slides/slide3.xml" Id="Rc1d07775defc4f13" /><Relationship Type="http://schemas.openxmlformats.org/officeDocument/2006/relationships/slide" Target="/ppt/slides/slide4.xml" Id="Re6006b479c70416d" /><Relationship Type="http://schemas.openxmlformats.org/officeDocument/2006/relationships/slide" Target="/ppt/slides/slide5.xml" Id="Rd894dc12fcca4da1" /><Relationship Type="http://schemas.openxmlformats.org/officeDocument/2006/relationships/slide" Target="/ppt/slides/slide6.xml" Id="Rd14b79acdb684e3d" /><Relationship Type="http://schemas.openxmlformats.org/officeDocument/2006/relationships/slide" Target="/ppt/slides/slide7.xml" Id="R005d21adc278454a" /><Relationship Type="http://schemas.openxmlformats.org/officeDocument/2006/relationships/slide" Target="/ppt/slides/slide8.xml" Id="R80b6ff73614c469c" /><Relationship Type="http://schemas.openxmlformats.org/officeDocument/2006/relationships/slide" Target="/ppt/slides/slide9.xml" Id="R9dcdcd1ab7b24fdd" /><Relationship Type="http://schemas.openxmlformats.org/officeDocument/2006/relationships/slide" Target="/ppt/slides/slide10.xml" Id="R370e4a2028cd4c46" /><Relationship Type="http://schemas.openxmlformats.org/officeDocument/2006/relationships/slide" Target="/ppt/slides/slide11.xml" Id="Rb2e6268cfb414eb9" /><Relationship Type="http://schemas.openxmlformats.org/officeDocument/2006/relationships/slide" Target="/ppt/slides/slide12.xml" Id="R16ece86a8b804dbf" /><Relationship Type="http://schemas.openxmlformats.org/officeDocument/2006/relationships/slide" Target="/ppt/slides/slide13.xml" Id="R90acf8c5657245d2" /><Relationship Type="http://schemas.openxmlformats.org/officeDocument/2006/relationships/slide" Target="/ppt/slides/slide14.xml" Id="R9cb3be8e03e54878" /><Relationship Type="http://schemas.openxmlformats.org/officeDocument/2006/relationships/slide" Target="/ppt/slides/slide15.xml" Id="R000e399f1f0e48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7cc28b3d1c44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f9503c56124296" /><Relationship Type="http://schemas.openxmlformats.org/officeDocument/2006/relationships/notesMaster" Target="/ppt/notesMasters/notesMaster1.xml" Id="Rd515efa66d504f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3b8cdad33be4061" /><Relationship Type="http://schemas.openxmlformats.org/officeDocument/2006/relationships/notesMaster" Target="/ppt/notesMasters/notesMaster1.xml" Id="R2b85df83082f4f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2ad921b8cf4636" /><Relationship Type="http://schemas.openxmlformats.org/officeDocument/2006/relationships/notesMaster" Target="/ppt/notesMasters/notesMaster1.xml" Id="R8a529cabc72f40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37218b26374514" /><Relationship Type="http://schemas.openxmlformats.org/officeDocument/2006/relationships/notesMaster" Target="/ppt/notesMasters/notesMaster1.xml" Id="Rf3076fe1f27040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aef87a0081438c" /><Relationship Type="http://schemas.openxmlformats.org/officeDocument/2006/relationships/notesMaster" Target="/ppt/notesMasters/notesMaster1.xml" Id="Rbdb9edc35bb846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1d5b2314ea44c2" /><Relationship Type="http://schemas.openxmlformats.org/officeDocument/2006/relationships/notesMaster" Target="/ppt/notesMasters/notesMaster1.xml" Id="R3a049f4c85174d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88e88ee0fc4148" /><Relationship Type="http://schemas.openxmlformats.org/officeDocument/2006/relationships/notesMaster" Target="/ppt/notesMasters/notesMaster1.xml" Id="R909cd526ff6245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7cd62a54d8442a" /><Relationship Type="http://schemas.openxmlformats.org/officeDocument/2006/relationships/notesMaster" Target="/ppt/notesMasters/notesMaster1.xml" Id="R0c53c553e3074a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b17019a7984507" /><Relationship Type="http://schemas.openxmlformats.org/officeDocument/2006/relationships/notesMaster" Target="/ppt/notesMasters/notesMaster1.xml" Id="R6e77910dcf7f4a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c7f305d5f145c1" /><Relationship Type="http://schemas.openxmlformats.org/officeDocument/2006/relationships/notesMaster" Target="/ppt/notesMasters/notesMaster1.xml" Id="Rf195f49733954b9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9bf19053254938" /><Relationship Type="http://schemas.openxmlformats.org/officeDocument/2006/relationships/notesMaster" Target="/ppt/notesMasters/notesMaster1.xml" Id="R5ad672f1e3ca40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533de733ba4811" /><Relationship Type="http://schemas.openxmlformats.org/officeDocument/2006/relationships/notesMaster" Target="/ppt/notesMasters/notesMaster1.xml" Id="Rb95d51392a394b8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267c7c6f4db4a46" /><Relationship Type="http://schemas.openxmlformats.org/officeDocument/2006/relationships/notesMaster" Target="/ppt/notesMasters/notesMaster1.xml" Id="R53ba60d595be447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3de0ad7c0504ed0" /><Relationship Type="http://schemas.openxmlformats.org/officeDocument/2006/relationships/notesMaster" Target="/ppt/notesMasters/notesMaster1.xml" Id="Ra53d77190f6043c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7db43adaba74572" /><Relationship Type="http://schemas.openxmlformats.org/officeDocument/2006/relationships/notesMaster" Target="/ppt/notesMasters/notesMaster1.xml" Id="R615a1707bccc44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baseline: current official MinerU 4.x documentation, reviewed 12 October 2026. Sources: https://opendatalab.github.io/MinerU/quick_start/ https://opendatalab.github.io/MinerU/quick_start/docker_deployment/. Architecture and operational targets in this deck are proposed design choices, not vendor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https://github.com/opendatalab/MinerU . Proposed integration uses FastAPI and PostgreSQL with pgvector. Evaluate performance on your own corpus. MinerU parsing alone does not establish electrical net or pin connectivity.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https://opendatalab.github.io/MinerU/usage/tiers/. Flash, Basic, Standard and Advanced refer to parsing tiers, not Kubernetes deployment sizes. Validate output and latency before enabling an expensive tier.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https://opendatalab.github.io/MinerU/usage/tiers/. GPU benefit depends on the backend and workload. Neural inference relies on repeated tensor operations that accelerators can execute in parallel. This mechanism is an engineering explanation, not a measured MinerU speedup. CPU parsing remains supported. Equivalent models do not inherently become more accurate just because they run on GPU.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https://opendatalab.github.io/MinerU/usage/tiers/ https://docs.aws.amazon.com/eks/latest/userguide/device-management-nvidia-dra-device-plugin.html. Native text parsing needs no inference models, and Basic can run on CPU. Standard and Advanced may also use a CPU VLM engine, but throughput is workload-dependent. The proposed EKS GPU service targets model-heavy parsing at production volume. For the device-plugin path, configure compatible drivers and request nvidia.com/gpu in the Pod. Auto Mode manages supported drivers/plugins. A node selector alone does not allocate a GPU. Use startup readiness checks and verify actual inference device usage. Select DRA separately where appropriate for the EKS version and provisioning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https://opendatalab.github.io/MinerU/quick_start/ https://opendatalab.github.io/MinerU/quick_start/docker_deployment/ https://docs.aws.amazon.com/eks/latest/userguide/device-management-nvidia-dra-device-plugin.html. Python 3.12 is a suggested starting point. Confirm engine-specific compatibility for the exact pinned release. GPU node types and resource values must come from load tests. Review package, model and dependency licences for the chosen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architecture. SQS transports job references, not full PDFs. Upload and queue publication need reconciliation or an outbox to avoid orphaned documents. Store checksum, job status, tenant and parser version. ACK only after durable artifacts and state updates.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architecture based on https://docs.aws.amazon.com/eks/latest/userguide/device-management-nvidia-dra-device-plugin.html. Use private service networking. CPU workers consume SQS and call the parsing service. The diagram omits detailed network and IAM policy wiring. CPU API and GPU capacity scale independently.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https://opendatalab.github.io/MinerU/quick_start/ https://opendatalab.github.io/MinerU/quick_start/docker_deployment/. The upstream Dockerfile installs a version range from the package index, so its tag alone is not a reproducibility guarantee. Modify and lock the install, assert the actual version, retain model revisions and deploy by digest. Model verification checks files, not parsing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https://docs.aws.amazon.com/eks/latest/userguide/device-management-nvidia-dra-device-plugin.html https://opendatalab.github.io/MinerU/quick_start/docker_deployment/. Recommended controls are architectural choices. On standard EKS GPU nodes configure compatible drivers and the NVIDIA device plugin; EKS Auto Mode manages the supported drivers/plugins. Avoid running competing GPU management mechanisms on the same nodes. Size /dev/shm from tests instead of copying host IPC settings.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https://opendatalab.github.io/MinerU/quick_start/. These are reference commands rather than a full deployment script. Replace the version range with an approved exact version for production. Bind 0.0.0.0 only inside the controlled container network. Inspect the deployed OpenAPI schema before implementing the HTTP adapter. The stateless command processes all PDF pages by default.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RAG integration. Source for intermediate output: https://opendatalab.github.io/MinerU/reference/output_files/ . Validate the actual versioned output schema. Map page indexes to display page numbers consistently. Store doc ID, tenant ACL, page, block type, source artifact URI, parser version and checksum. Preserve tables and figures with linked assets rather than flattening every block into prose.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design for PostgreSQL tsvector and pgvector. Enforce tenant and document permissions during retrieval and on source asset access. Reranking is optional. Treat retrieved document content as untrusted data and evaluate citation accuracy. MinerU remains in ingestion, outside the interactive answer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acceptance plan. Set numerical targets with stakeholders after a baseline benchmark. SQS is at-least-once: implement idempotency using document checksum plus parser/config version. Extend message visibility during work and persist outputs before deleting the message. Preserve the previous image and index version for rollback.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rollout. Pilot corpus should include scans, tables, multilingual pages and large PDFs representative of production. Index-version rollback requires retaining the previous index or reprocessing plan, not only the previous container. Sources consulted: https://opendatalab.github.io/MinerU/quick_start/ https://opendatalab.github.io/MinerU/quick_start/docker_deployment/ https://opendatalab.github.io/MinerU/usage/tiers/ https://docs.aws.amazon.com/eks/latest/userguide/device-management-nvidia-dra-device-plugin.html.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30321111a8455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ba9110b1f449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79998ef36343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6049d677e545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956e4d1eb745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92fd0081d0248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8FD9A2-44FC-4637-A2B9-3A7EAE65E46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C9ACED7-FA39-4ED9-AED4-14868970C8C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FA3E90D-D110-485D-8B87-FA04694DFF4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7164A5-F021-4197-8F61-C22ACD8A81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8B2AC95-79E7-4907-9671-18A4D5326B6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BA5A74-DA5C-46AF-ACAE-34B154BE2E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FE96F2-6A65-464D-86CA-CA2561557D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3E2BE61-032C-4439-A02A-72A7B01EAAE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D3FF76-E3A1-4665-A754-00AF1C1099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CD519F-4898-416C-A353-7862F8C19E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c963f7f49e43ca" /><Relationship Type="http://schemas.openxmlformats.org/officeDocument/2006/relationships/slideLayout" Target="/ppt/slideLayouts/slideLayout1.xml" Id="R161a2d3c00044bb7" /><Relationship Type="http://schemas.openxmlformats.org/officeDocument/2006/relationships/slideLayout" Target="/ppt/slideLayouts/slideLayout2.xml" Id="R34a3e59658cf4280" /><Relationship Type="http://schemas.openxmlformats.org/officeDocument/2006/relationships/slideLayout" Target="/ppt/slideLayouts/slideLayout3.xml" Id="R88c048b7387a4e41" /><Relationship Type="http://schemas.openxmlformats.org/officeDocument/2006/relationships/slideLayout" Target="/ppt/slideLayouts/slideLayout4.xml" Id="R84c41989a5844aeb" /><Relationship Type="http://schemas.openxmlformats.org/officeDocument/2006/relationships/slideLayout" Target="/ppt/slideLayouts/slideLayout5.xml" Id="R8c89726f50b840d7" /><Relationship Type="http://schemas.openxmlformats.org/officeDocument/2006/relationships/slideLayout" Target="/ppt/slideLayouts/slideLayout6.xml" Id="R91ba6d2a362a42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1a2d3c00044bb7"/>
    <p:sldLayoutId xmlns:r="http://schemas.openxmlformats.org/officeDocument/2006/relationships" id="2147483650" r:id="R34a3e59658cf4280"/>
    <p:sldLayoutId xmlns:r="http://schemas.openxmlformats.org/officeDocument/2006/relationships" id="2147483651" r:id="R88c048b7387a4e41"/>
    <p:sldLayoutId xmlns:r="http://schemas.openxmlformats.org/officeDocument/2006/relationships" id="2147483652" r:id="R84c41989a5844aeb"/>
    <p:sldLayoutId xmlns:r="http://schemas.openxmlformats.org/officeDocument/2006/relationships" id="2147483653" r:id="R8c89726f50b840d7"/>
    <p:sldLayoutId xmlns:r="http://schemas.openxmlformats.org/officeDocument/2006/relationships" id="2147483654" r:id="R91ba6d2a362a42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25f3dac563848a8" /><Relationship Type="http://schemas.openxmlformats.org/officeDocument/2006/relationships/notesSlide" Target="/ppt/notesSlides/notesSlide1.xml" Id="Reb6224a773934e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7822eee35794fe2" /><Relationship Type="http://schemas.openxmlformats.org/officeDocument/2006/relationships/notesSlide" Target="/ppt/notesSlides/notesSlide2.xml" Id="R04d47013f4fd4e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b236fd6409840f6" /><Relationship Type="http://schemas.openxmlformats.org/officeDocument/2006/relationships/notesSlide" Target="/ppt/notesSlides/notesSlide3.xml" Id="Rcafc699386c742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b56a1906f55497a" /><Relationship Type="http://schemas.openxmlformats.org/officeDocument/2006/relationships/notesSlide" Target="/ppt/notesSlides/notesSlide4.xml" Id="R34efccbebb224a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9cc3fa02f7648f7" /><Relationship Type="http://schemas.openxmlformats.org/officeDocument/2006/relationships/notesSlide" Target="/ppt/notesSlides/notesSlide5.xml" Id="R44e972f8df4a4b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0e2a0f2a3a64bde" /><Relationship Type="http://schemas.openxmlformats.org/officeDocument/2006/relationships/notesSlide" Target="/ppt/notesSlides/notesSlide6.xml" Id="R805f4b1b493744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b5bd8a6378f46b2" /><Relationship Type="http://schemas.openxmlformats.org/officeDocument/2006/relationships/notesSlide" Target="/ppt/notesSlides/notesSlide7.xml" Id="Rcdab1b6185e742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97eb4be418b4044" /><Relationship Type="http://schemas.openxmlformats.org/officeDocument/2006/relationships/notesSlide" Target="/ppt/notesSlides/notesSlide8.xml" Id="R290e27e114e14b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0dd357c28224233" /><Relationship Type="http://schemas.openxmlformats.org/officeDocument/2006/relationships/notesSlide" Target="/ppt/notesSlides/notesSlide9.xml" Id="R690bab95a0314f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73f0546094a4d41" /><Relationship Type="http://schemas.openxmlformats.org/officeDocument/2006/relationships/notesSlide" Target="/ppt/notesSlides/notesSlide10.xml" Id="Reaf08d6379974c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e994ded7c6e4e1d" /><Relationship Type="http://schemas.openxmlformats.org/officeDocument/2006/relationships/notesSlide" Target="/ppt/notesSlides/notesSlide11.xml" Id="R57f5d57cf3cb4c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3777f9d73e9405c" /><Relationship Type="http://schemas.openxmlformats.org/officeDocument/2006/relationships/notesSlide" Target="/ppt/notesSlides/notesSlide12.xml" Id="R089bcd87239e4c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2acaeda43214959" /><Relationship Type="http://schemas.openxmlformats.org/officeDocument/2006/relationships/notesSlide" Target="/ppt/notesSlides/notesSlide13.xml" Id="R4bc6a4c076ad4f4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9876244aa814795" /><Relationship Type="http://schemas.openxmlformats.org/officeDocument/2006/relationships/notesSlide" Target="/ppt/notesSlides/notesSlide14.xml" Id="R2623c2d998864e8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63c58c6cef24625" /><Relationship Type="http://schemas.openxmlformats.org/officeDocument/2006/relationships/notesSlide" Target="/ppt/notesSlides/notesSlide15.xml" Id="Rba4b5ef7a86d4b78" /></Relationships>
</file>

<file path=ppt/slides/slide1.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DBC0A1-8204-46D0-A3A8-72C3E3600889}"/>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9344D"/>
                </a:solidFill>
              </a:defRPr>
            </a:defPPr>
          </a:lstStyle>
          <a:p xmlns:a="http://schemas.openxmlformats.org/drawingml/2006/main">
            <a:pPr>
              <a:defRPr sz="3150" b="1">
                <a:solidFill>
                  <a:srgbClr val="19344D"/>
                </a:solidFill>
              </a:defRPr>
            </a:pPr>
            <a:r>
              <a:rPr sz="3150" b="1">
                <a:solidFill>
                  <a:srgbClr val="19344D"/>
                </a:solidFill>
              </a:rPr>
              <a:t>MinerU for enterprise RAG</a:t>
            </a:r>
          </a:p>
        </p:txBody>
      </p:sp>
      <p:sp>
        <p:nvSpPr>
          <p:cNvPr id="2" name="">
            <a:extLst xmlns:a="http://schemas.openxmlformats.org/drawingml/2006/main">
              <a:ext uri="{FF2B5EF4-FFF2-40B4-BE49-F238E27FC236}">
                <a16:creationId xmlns:a16="http://schemas.microsoft.com/office/drawing/2014/main" id="{DDD3EF9A-B053-4280-8F4D-DC19542BC8A4}"/>
              </a:ext>
            </a:extLst>
          </p:cNvPr>
          <p:cNvSpPr>
            <a:spLocks xmlns:a="http://schemas.openxmlformats.org/drawingml/2006/main" noGrp="1"/>
          </p:cNvSpPr>
          <p:nvPr/>
        </p:nvSpPr>
        <p:spPr>
          <a:xfrm xmlns:a="http://schemas.openxmlformats.org/drawingml/2006/main">
            <a:off x="609600" y="1162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577"/>
                </a:solidFill>
              </a:defRPr>
            </a:defPPr>
          </a:lstStyle>
          <a:p xmlns:a="http://schemas.openxmlformats.org/drawingml/2006/main">
            <a:pPr>
              <a:defRPr sz="1800" b="0">
                <a:solidFill>
                  <a:srgbClr val="516577"/>
                </a:solidFill>
              </a:defRPr>
            </a:pPr>
            <a:r>
              <a:rPr sz="1800" b="0">
                <a:solidFill>
                  <a:srgbClr val="516577"/>
                </a:solidFill>
              </a:rPr>
              <a:t>Production requirements, procedures and deployment on Amazon EKS</a:t>
            </a:r>
          </a:p>
        </p:txBody>
      </p:sp>
      <p:sp>
        <p:nvSpPr>
          <p:cNvPr id="3" name="">
            <a:extLst xmlns:a="http://schemas.openxmlformats.org/drawingml/2006/main">
              <a:ext uri="{FF2B5EF4-FFF2-40B4-BE49-F238E27FC236}">
                <a16:creationId xmlns:a16="http://schemas.microsoft.com/office/drawing/2014/main" id="{718229FB-62BF-4914-BFB7-7D60AF2DD749}"/>
              </a:ext>
            </a:extLst>
          </p:cNvPr>
          <p:cNvSpPr>
            <a:spLocks xmlns:a="http://schemas.openxmlformats.org/drawingml/2006/main" noGrp="1"/>
          </p:cNvSpPr>
          <p:nvPr/>
        </p:nvSpPr>
        <p:spPr>
          <a:xfrm xmlns:a="http://schemas.openxmlformats.org/drawingml/2006/main">
            <a:off x="112776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577"/>
                </a:solidFill>
              </a:defRPr>
            </a:defPPr>
          </a:lstStyle>
          <a:p xmlns:a="http://schemas.openxmlformats.org/drawingml/2006/main">
            <a:pPr>
              <a:defRPr sz="1200" b="0">
                <a:solidFill>
                  <a:srgbClr val="516577"/>
                </a:solidFill>
              </a:defRPr>
            </a:pPr>
            <a:r>
              <a:rPr sz="1200" b="0">
                <a:solidFill>
                  <a:srgbClr val="516577"/>
                </a:solidFill>
              </a:rPr>
              <a:t>01</a:t>
            </a:r>
          </a:p>
        </p:txBody>
      </p:sp>
      <p:sp>
        <p:nvSpPr>
          <p:cNvPr id="4" name="">
            <a:extLst xmlns:a="http://schemas.openxmlformats.org/drawingml/2006/main">
              <a:ext uri="{FF2B5EF4-FFF2-40B4-BE49-F238E27FC236}">
                <a16:creationId xmlns:a16="http://schemas.microsoft.com/office/drawing/2014/main" id="{F9E9B72D-45E1-49F3-B8CC-7A7EBCE34722}"/>
              </a:ext>
            </a:extLst>
          </p:cNvPr>
          <p:cNvSpPr>
            <a:spLocks xmlns:a="http://schemas.openxmlformats.org/drawingml/2006/main" noGrp="1"/>
          </p:cNvSpPr>
          <p:nvPr/>
        </p:nvSpPr>
        <p:spPr>
          <a:xfrm xmlns:a="http://schemas.openxmlformats.org/drawingml/2006/main">
            <a:off x="666750" y="2762250"/>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19344D"/>
                </a:solidFill>
              </a:defRPr>
            </a:defPPr>
          </a:lstStyle>
          <a:p xmlns:a="http://schemas.openxmlformats.org/drawingml/2006/main">
            <a:pPr>
              <a:defRPr sz="4050" b="1">
                <a:solidFill>
                  <a:srgbClr val="19344D"/>
                </a:solidFill>
              </a:defRPr>
            </a:pPr>
            <a:r>
              <a:rPr sz="4050" b="1">
                <a:solidFill>
                  <a:srgbClr val="19344D"/>
                </a:solidFill>
              </a:rPr>
              <a:t>Document parsing as a dedicated ingestion service</a:t>
            </a:r>
          </a:p>
        </p:txBody>
      </p:sp>
      <p:sp>
        <p:nvSpPr>
          <p:cNvPr id="5" name="">
            <a:extLst xmlns:a="http://schemas.openxmlformats.org/drawingml/2006/main">
              <a:ext uri="{FF2B5EF4-FFF2-40B4-BE49-F238E27FC236}">
                <a16:creationId xmlns:a16="http://schemas.microsoft.com/office/drawing/2014/main" id="{DE7903B5-A52A-439D-94EF-F84447071112}"/>
              </a:ext>
            </a:extLst>
          </p:cNvPr>
          <p:cNvSpPr>
            <a:spLocks xmlns:a="http://schemas.openxmlformats.org/drawingml/2006/main" noGrp="1"/>
          </p:cNvSpPr>
          <p:nvPr/>
        </p:nvSpPr>
        <p:spPr>
          <a:xfrm xmlns:a="http://schemas.openxmlformats.org/drawingml/2006/main">
            <a:off x="666750" y="48577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Implementation overview and production rollout</a:t>
            </a:r>
          </a:p>
        </p:txBody>
      </p:sp>
    </p:spTree>
    <p:extLst>
      <p:ext uri="{BB962C8B-B14F-4D97-AF65-F5344CB8AC3E}">
        <p14:creationId xmlns:p14="http://schemas.microsoft.com/office/powerpoint/2010/main" val="809261769"/>
      </p:ext>
    </p:extLst>
  </p:cSld>
</p:sld>
</file>

<file path=ppt/slides/slide2.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72BCC41-E40A-4E8C-9921-DAE0C76A6579}"/>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9344D"/>
                </a:solidFill>
              </a:defRPr>
            </a:defPPr>
          </a:lstStyle>
          <a:p xmlns:a="http://schemas.openxmlformats.org/drawingml/2006/main">
            <a:pPr>
              <a:defRPr sz="3150" b="1">
                <a:solidFill>
                  <a:srgbClr val="19344D"/>
                </a:solidFill>
              </a:defRPr>
            </a:pPr>
            <a:r>
              <a:rPr sz="3150" b="1">
                <a:solidFill>
                  <a:srgbClr val="19344D"/>
                </a:solidFill>
              </a:rPr>
              <a:t>Purpose and scope</a:t>
            </a:r>
          </a:p>
        </p:txBody>
      </p:sp>
      <p:sp>
        <p:nvSpPr>
          <p:cNvPr id="2" name="">
            <a:extLst xmlns:a="http://schemas.openxmlformats.org/drawingml/2006/main">
              <a:ext uri="{FF2B5EF4-FFF2-40B4-BE49-F238E27FC236}">
                <a16:creationId xmlns:a16="http://schemas.microsoft.com/office/drawing/2014/main" id="{6D9DC36F-3E31-47E7-97BC-8C6CC73FBF87}"/>
              </a:ext>
            </a:extLst>
          </p:cNvPr>
          <p:cNvSpPr>
            <a:spLocks xmlns:a="http://schemas.openxmlformats.org/drawingml/2006/main" noGrp="1"/>
          </p:cNvSpPr>
          <p:nvPr/>
        </p:nvSpPr>
        <p:spPr>
          <a:xfrm xmlns:a="http://schemas.openxmlformats.org/drawingml/2006/main">
            <a:off x="609600" y="1162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577"/>
                </a:solidFill>
              </a:defRPr>
            </a:defPPr>
          </a:lstStyle>
          <a:p xmlns:a="http://schemas.openxmlformats.org/drawingml/2006/main">
            <a:pPr>
              <a:defRPr sz="1800" b="0">
                <a:solidFill>
                  <a:srgbClr val="516577"/>
                </a:solidFill>
              </a:defRPr>
            </a:pPr>
            <a:r>
              <a:rPr sz="1800" b="0">
                <a:solidFill>
                  <a:srgbClr val="516577"/>
                </a:solidFill>
              </a:rPr>
              <a:t>Structured extraction improves the evidence available to your RAG system.</a:t>
            </a:r>
          </a:p>
        </p:txBody>
      </p:sp>
      <p:sp>
        <p:nvSpPr>
          <p:cNvPr id="3" name="">
            <a:extLst xmlns:a="http://schemas.openxmlformats.org/drawingml/2006/main">
              <a:ext uri="{FF2B5EF4-FFF2-40B4-BE49-F238E27FC236}">
                <a16:creationId xmlns:a16="http://schemas.microsoft.com/office/drawing/2014/main" id="{44C17C85-0AC1-436A-B429-132C2BBDD227}"/>
              </a:ext>
            </a:extLst>
          </p:cNvPr>
          <p:cNvSpPr>
            <a:spLocks xmlns:a="http://schemas.openxmlformats.org/drawingml/2006/main" noGrp="1"/>
          </p:cNvSpPr>
          <p:nvPr/>
        </p:nvSpPr>
        <p:spPr>
          <a:xfrm xmlns:a="http://schemas.openxmlformats.org/drawingml/2006/main">
            <a:off x="112776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577"/>
                </a:solidFill>
              </a:defRPr>
            </a:defPPr>
          </a:lstStyle>
          <a:p xmlns:a="http://schemas.openxmlformats.org/drawingml/2006/main">
            <a:pPr>
              <a:defRPr sz="1200" b="0">
                <a:solidFill>
                  <a:srgbClr val="516577"/>
                </a:solidFill>
              </a:defRPr>
            </a:pPr>
            <a:r>
              <a:rPr sz="1200" b="0">
                <a:solidFill>
                  <a:srgbClr val="516577"/>
                </a:solidFill>
              </a:rPr>
              <a:t>02</a:t>
            </a:r>
          </a:p>
        </p:txBody>
      </p:sp>
      <p:sp>
        <p:nvSpPr>
          <p:cNvPr id="4" name="">
            <a:extLst xmlns:a="http://schemas.openxmlformats.org/drawingml/2006/main">
              <a:ext uri="{FF2B5EF4-FFF2-40B4-BE49-F238E27FC236}">
                <a16:creationId xmlns:a16="http://schemas.microsoft.com/office/drawing/2014/main" id="{01A3CB7D-A146-4795-9390-BE4D17D0B0A1}"/>
              </a:ext>
            </a:extLst>
          </p:cNvPr>
          <p:cNvSpPr>
            <a:spLocks xmlns:a="http://schemas.openxmlformats.org/drawingml/2006/main" noGrp="1"/>
          </p:cNvSpPr>
          <p:nvPr/>
        </p:nvSpPr>
        <p:spPr>
          <a:xfrm xmlns:a="http://schemas.openxmlformats.org/drawingml/2006/main">
            <a:off x="666750" y="20955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Business need</a:t>
            </a:r>
          </a:p>
        </p:txBody>
      </p:sp>
      <p:sp>
        <p:nvSpPr>
          <p:cNvPr id="5" name="">
            <a:extLst xmlns:a="http://schemas.openxmlformats.org/drawingml/2006/main">
              <a:ext uri="{FF2B5EF4-FFF2-40B4-BE49-F238E27FC236}">
                <a16:creationId xmlns:a16="http://schemas.microsoft.com/office/drawing/2014/main" id="{F0263B04-086E-499A-A8A8-7376CF566355}"/>
              </a:ext>
            </a:extLst>
          </p:cNvPr>
          <p:cNvSpPr>
            <a:spLocks xmlns:a="http://schemas.openxmlformats.org/drawingml/2006/main" noGrp="1"/>
          </p:cNvSpPr>
          <p:nvPr/>
        </p:nvSpPr>
        <p:spPr>
          <a:xfrm xmlns:a="http://schemas.openxmlformats.org/drawingml/2006/main">
            <a:off x="3810000" y="20955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Convert complex PDFs into content that retrieval can use and cite.</a:t>
            </a:r>
          </a:p>
        </p:txBody>
      </p:sp>
      <p:sp>
        <p:nvSpPr>
          <p:cNvPr id="6" name="">
            <a:extLst xmlns:a="http://schemas.openxmlformats.org/drawingml/2006/main">
              <a:ext uri="{FF2B5EF4-FFF2-40B4-BE49-F238E27FC236}">
                <a16:creationId xmlns:a16="http://schemas.microsoft.com/office/drawing/2014/main" id="{5CDD2C45-6FB9-422A-8D48-C8740D39F9A1}"/>
              </a:ext>
            </a:extLst>
          </p:cNvPr>
          <p:cNvSpPr>
            <a:spLocks xmlns:a="http://schemas.openxmlformats.org/drawingml/2006/main" noGrp="1"/>
          </p:cNvSpPr>
          <p:nvPr/>
        </p:nvSpPr>
        <p:spPr>
          <a:xfrm xmlns:a="http://schemas.openxmlformats.org/drawingml/2006/main">
            <a:off x="666750" y="29908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MinerU role</a:t>
            </a:r>
          </a:p>
        </p:txBody>
      </p:sp>
      <p:sp>
        <p:nvSpPr>
          <p:cNvPr id="7" name="">
            <a:extLst xmlns:a="http://schemas.openxmlformats.org/drawingml/2006/main">
              <a:ext uri="{FF2B5EF4-FFF2-40B4-BE49-F238E27FC236}">
                <a16:creationId xmlns:a16="http://schemas.microsoft.com/office/drawing/2014/main" id="{1E2DFF30-785A-466D-891A-1778CFCBA1AE}"/>
              </a:ext>
            </a:extLst>
          </p:cNvPr>
          <p:cNvSpPr>
            <a:spLocks xmlns:a="http://schemas.openxmlformats.org/drawingml/2006/main" noGrp="1"/>
          </p:cNvSpPr>
          <p:nvPr/>
        </p:nvSpPr>
        <p:spPr>
          <a:xfrm xmlns:a="http://schemas.openxmlformats.org/drawingml/2006/main">
            <a:off x="3810000" y="29908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Extract document content and preserve useful structure in outputs.</a:t>
            </a:r>
          </a:p>
        </p:txBody>
      </p:sp>
      <p:sp>
        <p:nvSpPr>
          <p:cNvPr id="8" name="">
            <a:extLst xmlns:a="http://schemas.openxmlformats.org/drawingml/2006/main">
              <a:ext uri="{FF2B5EF4-FFF2-40B4-BE49-F238E27FC236}">
                <a16:creationId xmlns:a16="http://schemas.microsoft.com/office/drawing/2014/main" id="{0D335196-E16F-41DD-A547-5EFF885699D3}"/>
              </a:ext>
            </a:extLst>
          </p:cNvPr>
          <p:cNvSpPr>
            <a:spLocks xmlns:a="http://schemas.openxmlformats.org/drawingml/2006/main" noGrp="1"/>
          </p:cNvSpPr>
          <p:nvPr/>
        </p:nvSpPr>
        <p:spPr>
          <a:xfrm xmlns:a="http://schemas.openxmlformats.org/drawingml/2006/main">
            <a:off x="666750" y="38862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RAG role</a:t>
            </a:r>
          </a:p>
        </p:txBody>
      </p:sp>
      <p:sp>
        <p:nvSpPr>
          <p:cNvPr id="9" name="">
            <a:extLst xmlns:a="http://schemas.openxmlformats.org/drawingml/2006/main">
              <a:ext uri="{FF2B5EF4-FFF2-40B4-BE49-F238E27FC236}">
                <a16:creationId xmlns:a16="http://schemas.microsoft.com/office/drawing/2014/main" id="{D98175EA-88D2-49A5-9951-01D69EA8BAFC}"/>
              </a:ext>
            </a:extLst>
          </p:cNvPr>
          <p:cNvSpPr>
            <a:spLocks xmlns:a="http://schemas.openxmlformats.org/drawingml/2006/main" noGrp="1"/>
          </p:cNvSpPr>
          <p:nvPr/>
        </p:nvSpPr>
        <p:spPr>
          <a:xfrm xmlns:a="http://schemas.openxmlformats.org/drawingml/2006/main">
            <a:off x="3810000" y="38862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Apply access controls, chunking, embeddings and answer generation.</a:t>
            </a:r>
          </a:p>
        </p:txBody>
      </p:sp>
      <p:sp>
        <p:nvSpPr>
          <p:cNvPr id="10" name="">
            <a:extLst xmlns:a="http://schemas.openxmlformats.org/drawingml/2006/main">
              <a:ext uri="{FF2B5EF4-FFF2-40B4-BE49-F238E27FC236}">
                <a16:creationId xmlns:a16="http://schemas.microsoft.com/office/drawing/2014/main" id="{3BFE0D63-D1F8-4C29-B7D3-941C4EDE48F2}"/>
              </a:ext>
            </a:extLst>
          </p:cNvPr>
          <p:cNvSpPr>
            <a:spLocks xmlns:a="http://schemas.openxmlformats.org/drawingml/2006/main" noGrp="1"/>
          </p:cNvSpPr>
          <p:nvPr/>
        </p:nvSpPr>
        <p:spPr>
          <a:xfrm xmlns:a="http://schemas.openxmlformats.org/drawingml/2006/main">
            <a:off x="666750" y="47815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Domain boundary</a:t>
            </a:r>
          </a:p>
        </p:txBody>
      </p:sp>
      <p:sp>
        <p:nvSpPr>
          <p:cNvPr id="11" name="">
            <a:extLst xmlns:a="http://schemas.openxmlformats.org/drawingml/2006/main">
              <a:ext uri="{FF2B5EF4-FFF2-40B4-BE49-F238E27FC236}">
                <a16:creationId xmlns:a16="http://schemas.microsoft.com/office/drawing/2014/main" id="{8D38CB7F-1831-4875-8DD3-D08B35E96E5C}"/>
              </a:ext>
            </a:extLst>
          </p:cNvPr>
          <p:cNvSpPr>
            <a:spLocks xmlns:a="http://schemas.openxmlformats.org/drawingml/2006/main" noGrp="1"/>
          </p:cNvSpPr>
          <p:nvPr/>
        </p:nvSpPr>
        <p:spPr>
          <a:xfrm xmlns:a="http://schemas.openxmlformats.org/drawingml/2006/main">
            <a:off x="3810000" y="47815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Schematic connectivity needs a separate validated extraction pipeline.</a:t>
            </a:r>
          </a:p>
        </p:txBody>
      </p:sp>
    </p:spTree>
    <p:extLst>
      <p:ext uri="{BB962C8B-B14F-4D97-AF65-F5344CB8AC3E}">
        <p14:creationId xmlns:p14="http://schemas.microsoft.com/office/powerpoint/2010/main" val="1312736350"/>
      </p:ext>
    </p:extLst>
  </p:cSld>
</p:sld>
</file>

<file path=ppt/slides/slide3.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B71895E-6CCC-43F6-9281-80DE23535C04}"/>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9344D"/>
                </a:solidFill>
              </a:defRPr>
            </a:defPPr>
          </a:lstStyle>
          <a:p xmlns:a="http://schemas.openxmlformats.org/drawingml/2006/main">
            <a:pPr>
              <a:defRPr sz="3150" b="1">
                <a:solidFill>
                  <a:srgbClr val="19344D"/>
                </a:solidFill>
              </a:defRPr>
            </a:pPr>
            <a:r>
              <a:rPr sz="3150" b="1">
                <a:solidFill>
                  <a:srgbClr val="19344D"/>
                </a:solidFill>
              </a:rPr>
              <a:t>Runtime selection</a:t>
            </a:r>
          </a:p>
        </p:txBody>
      </p:sp>
      <p:sp>
        <p:nvSpPr>
          <p:cNvPr id="2" name="">
            <a:extLst xmlns:a="http://schemas.openxmlformats.org/drawingml/2006/main">
              <a:ext uri="{FF2B5EF4-FFF2-40B4-BE49-F238E27FC236}">
                <a16:creationId xmlns:a16="http://schemas.microsoft.com/office/drawing/2014/main" id="{1ED21395-472A-4BB9-9D20-7E360A31BB65}"/>
              </a:ext>
            </a:extLst>
          </p:cNvPr>
          <p:cNvSpPr>
            <a:spLocks xmlns:a="http://schemas.openxmlformats.org/drawingml/2006/main" noGrp="1"/>
          </p:cNvSpPr>
          <p:nvPr/>
        </p:nvSpPr>
        <p:spPr>
          <a:xfrm xmlns:a="http://schemas.openxmlformats.org/drawingml/2006/main">
            <a:off x="609600" y="1162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577"/>
                </a:solidFill>
              </a:defRPr>
            </a:defPPr>
          </a:lstStyle>
          <a:p xmlns:a="http://schemas.openxmlformats.org/drawingml/2006/main">
            <a:pPr>
              <a:defRPr sz="1800" b="0">
                <a:solidFill>
                  <a:srgbClr val="516577"/>
                </a:solidFill>
              </a:defRPr>
            </a:pPr>
            <a:r>
              <a:rPr sz="1800" b="0">
                <a:solidFill>
                  <a:srgbClr val="516577"/>
                </a:solidFill>
              </a:rPr>
              <a:t>Choose the parsing tier from document complexity and measured quality.</a:t>
            </a:r>
          </a:p>
        </p:txBody>
      </p:sp>
      <p:sp>
        <p:nvSpPr>
          <p:cNvPr id="3" name="">
            <a:extLst xmlns:a="http://schemas.openxmlformats.org/drawingml/2006/main">
              <a:ext uri="{FF2B5EF4-FFF2-40B4-BE49-F238E27FC236}">
                <a16:creationId xmlns:a16="http://schemas.microsoft.com/office/drawing/2014/main" id="{F6F89F2E-178C-4026-86A5-74E6EF2D74CA}"/>
              </a:ext>
            </a:extLst>
          </p:cNvPr>
          <p:cNvSpPr>
            <a:spLocks xmlns:a="http://schemas.openxmlformats.org/drawingml/2006/main" noGrp="1"/>
          </p:cNvSpPr>
          <p:nvPr/>
        </p:nvSpPr>
        <p:spPr>
          <a:xfrm xmlns:a="http://schemas.openxmlformats.org/drawingml/2006/main">
            <a:off x="112776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577"/>
                </a:solidFill>
              </a:defRPr>
            </a:defPPr>
          </a:lstStyle>
          <a:p xmlns:a="http://schemas.openxmlformats.org/drawingml/2006/main">
            <a:pPr>
              <a:defRPr sz="1200" b="0">
                <a:solidFill>
                  <a:srgbClr val="516577"/>
                </a:solidFill>
              </a:defRPr>
            </a:pPr>
            <a:r>
              <a:rPr sz="1200" b="0">
                <a:solidFill>
                  <a:srgbClr val="516577"/>
                </a:solidFill>
              </a:rPr>
              <a:t>03</a:t>
            </a:r>
          </a:p>
        </p:txBody>
      </p:sp>
      <p:sp>
        <p:nvSpPr>
          <p:cNvPr id="4" name="">
            <a:extLst xmlns:a="http://schemas.openxmlformats.org/drawingml/2006/main">
              <a:ext uri="{FF2B5EF4-FFF2-40B4-BE49-F238E27FC236}">
                <a16:creationId xmlns:a16="http://schemas.microsoft.com/office/drawing/2014/main" id="{6F323C60-EA1A-42BA-8256-BE1218D1C1BD}"/>
              </a:ext>
            </a:extLst>
          </p:cNvPr>
          <p:cNvSpPr>
            <a:spLocks xmlns:a="http://schemas.openxmlformats.org/drawingml/2006/main" noGrp="1"/>
          </p:cNvSpPr>
          <p:nvPr/>
        </p:nvSpPr>
        <p:spPr>
          <a:xfrm xmlns:a="http://schemas.openxmlformats.org/drawingml/2006/main">
            <a:off x="666750" y="20955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Flash</a:t>
            </a:r>
          </a:p>
        </p:txBody>
      </p:sp>
      <p:sp>
        <p:nvSpPr>
          <p:cNvPr id="5" name="">
            <a:extLst xmlns:a="http://schemas.openxmlformats.org/drawingml/2006/main">
              <a:ext uri="{FF2B5EF4-FFF2-40B4-BE49-F238E27FC236}">
                <a16:creationId xmlns:a16="http://schemas.microsoft.com/office/drawing/2014/main" id="{8EC4C8FF-44EB-4BFF-A7CC-696902B79B8B}"/>
              </a:ext>
            </a:extLst>
          </p:cNvPr>
          <p:cNvSpPr>
            <a:spLocks xmlns:a="http://schemas.openxmlformats.org/drawingml/2006/main" noGrp="1"/>
          </p:cNvSpPr>
          <p:nvPr/>
        </p:nvSpPr>
        <p:spPr>
          <a:xfrm xmlns:a="http://schemas.openxmlformats.org/drawingml/2006/main">
            <a:off x="3810000" y="20955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Native text and previews. Explicit text mode does not OCR scans.</a:t>
            </a:r>
          </a:p>
        </p:txBody>
      </p:sp>
      <p:sp>
        <p:nvSpPr>
          <p:cNvPr id="6" name="">
            <a:extLst xmlns:a="http://schemas.openxmlformats.org/drawingml/2006/main">
              <a:ext uri="{FF2B5EF4-FFF2-40B4-BE49-F238E27FC236}">
                <a16:creationId xmlns:a16="http://schemas.microsoft.com/office/drawing/2014/main" id="{0412DFA7-CEE1-44DB-9E16-6F6C317B3951}"/>
              </a:ext>
            </a:extLst>
          </p:cNvPr>
          <p:cNvSpPr>
            <a:spLocks xmlns:a="http://schemas.openxmlformats.org/drawingml/2006/main" noGrp="1"/>
          </p:cNvSpPr>
          <p:nvPr/>
        </p:nvSpPr>
        <p:spPr>
          <a:xfrm xmlns:a="http://schemas.openxmlformats.org/drawingml/2006/main">
            <a:off x="666750" y="29908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Basic</a:t>
            </a:r>
          </a:p>
        </p:txBody>
      </p:sp>
      <p:sp>
        <p:nvSpPr>
          <p:cNvPr id="7" name="">
            <a:extLst xmlns:a="http://schemas.openxmlformats.org/drawingml/2006/main">
              <a:ext uri="{FF2B5EF4-FFF2-40B4-BE49-F238E27FC236}">
                <a16:creationId xmlns:a16="http://schemas.microsoft.com/office/drawing/2014/main" id="{3543BCCB-3BE4-49D7-9F8F-E6F5CB2E7FA5}"/>
              </a:ext>
            </a:extLst>
          </p:cNvPr>
          <p:cNvSpPr>
            <a:spLocks xmlns:a="http://schemas.openxmlformats.org/drawingml/2006/main" noGrp="1"/>
          </p:cNvSpPr>
          <p:nvPr/>
        </p:nvSpPr>
        <p:spPr>
          <a:xfrm xmlns:a="http://schemas.openxmlformats.org/drawingml/2006/main">
            <a:off x="3810000" y="29908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OCR, tables and formulas using small models.</a:t>
            </a:r>
          </a:p>
        </p:txBody>
      </p:sp>
      <p:sp>
        <p:nvSpPr>
          <p:cNvPr id="8" name="">
            <a:extLst xmlns:a="http://schemas.openxmlformats.org/drawingml/2006/main">
              <a:ext uri="{FF2B5EF4-FFF2-40B4-BE49-F238E27FC236}">
                <a16:creationId xmlns:a16="http://schemas.microsoft.com/office/drawing/2014/main" id="{75858987-80D4-4B4C-800E-D4362F28227A}"/>
              </a:ext>
            </a:extLst>
          </p:cNvPr>
          <p:cNvSpPr>
            <a:spLocks xmlns:a="http://schemas.openxmlformats.org/drawingml/2006/main" noGrp="1"/>
          </p:cNvSpPr>
          <p:nvPr/>
        </p:nvSpPr>
        <p:spPr>
          <a:xfrm xmlns:a="http://schemas.openxmlformats.org/drawingml/2006/main">
            <a:off x="666750" y="38862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Standard</a:t>
            </a:r>
          </a:p>
        </p:txBody>
      </p:sp>
      <p:sp>
        <p:nvSpPr>
          <p:cNvPr id="9" name="">
            <a:extLst xmlns:a="http://schemas.openxmlformats.org/drawingml/2006/main">
              <a:ext uri="{FF2B5EF4-FFF2-40B4-BE49-F238E27FC236}">
                <a16:creationId xmlns:a16="http://schemas.microsoft.com/office/drawing/2014/main" id="{FE2BDA07-3336-49BD-9538-154B59EC2ECD}"/>
              </a:ext>
            </a:extLst>
          </p:cNvPr>
          <p:cNvSpPr>
            <a:spLocks xmlns:a="http://schemas.openxmlformats.org/drawingml/2006/main" noGrp="1"/>
          </p:cNvSpPr>
          <p:nvPr/>
        </p:nvSpPr>
        <p:spPr>
          <a:xfrm xmlns:a="http://schemas.openxmlformats.org/drawingml/2006/main">
            <a:off x="3810000" y="38862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Complex layouts using small models and a vision language model.</a:t>
            </a:r>
          </a:p>
        </p:txBody>
      </p:sp>
      <p:sp>
        <p:nvSpPr>
          <p:cNvPr id="10" name="">
            <a:extLst xmlns:a="http://schemas.openxmlformats.org/drawingml/2006/main">
              <a:ext uri="{FF2B5EF4-FFF2-40B4-BE49-F238E27FC236}">
                <a16:creationId xmlns:a16="http://schemas.microsoft.com/office/drawing/2014/main" id="{DCC62186-7783-4FCA-ADCE-D2B4AC8C0364}"/>
              </a:ext>
            </a:extLst>
          </p:cNvPr>
          <p:cNvSpPr>
            <a:spLocks xmlns:a="http://schemas.openxmlformats.org/drawingml/2006/main" noGrp="1"/>
          </p:cNvSpPr>
          <p:nvPr/>
        </p:nvSpPr>
        <p:spPr>
          <a:xfrm xmlns:a="http://schemas.openxmlformats.org/drawingml/2006/main">
            <a:off x="666750" y="47815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Advanced</a:t>
            </a:r>
          </a:p>
        </p:txBody>
      </p:sp>
      <p:sp>
        <p:nvSpPr>
          <p:cNvPr id="11" name="">
            <a:extLst xmlns:a="http://schemas.openxmlformats.org/drawingml/2006/main">
              <a:ext uri="{FF2B5EF4-FFF2-40B4-BE49-F238E27FC236}">
                <a16:creationId xmlns:a16="http://schemas.microsoft.com/office/drawing/2014/main" id="{EBD94BB0-D240-4287-84C5-266CDC20D3FE}"/>
              </a:ext>
            </a:extLst>
          </p:cNvPr>
          <p:cNvSpPr>
            <a:spLocks xmlns:a="http://schemas.openxmlformats.org/drawingml/2006/main" noGrp="1"/>
          </p:cNvSpPr>
          <p:nvPr/>
        </p:nvSpPr>
        <p:spPr>
          <a:xfrm xmlns:a="http://schemas.openxmlformats.org/drawingml/2006/main">
            <a:off x="3810000" y="47815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Additional inference computation for demanding quality needs.</a:t>
            </a:r>
          </a:p>
        </p:txBody>
      </p:sp>
    </p:spTree>
    <p:extLst>
      <p:ext uri="{BB962C8B-B14F-4D97-AF65-F5344CB8AC3E}">
        <p14:creationId xmlns:p14="http://schemas.microsoft.com/office/powerpoint/2010/main" val="1816742179"/>
      </p:ext>
    </p:extLst>
  </p:cSld>
</p:sld>
</file>

<file path=ppt/slides/slide4.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E093C80-F551-4AC3-B26E-8774342BCB53}"/>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9344D"/>
                </a:solidFill>
              </a:defRPr>
            </a:defPPr>
          </a:lstStyle>
          <a:p xmlns:a="http://schemas.openxmlformats.org/drawingml/2006/main">
            <a:pPr>
              <a:defRPr sz="3150" b="1">
                <a:solidFill>
                  <a:srgbClr val="19344D"/>
                </a:solidFill>
              </a:defRPr>
            </a:pPr>
            <a:r>
              <a:rPr sz="3150" b="1">
                <a:solidFill>
                  <a:srgbClr val="19344D"/>
                </a:solidFill>
              </a:rPr>
              <a:t>Why GPU acceleration helps MinerU</a:t>
            </a:r>
          </a:p>
        </p:txBody>
      </p:sp>
      <p:sp>
        <p:nvSpPr>
          <p:cNvPr id="2" name="">
            <a:extLst xmlns:a="http://schemas.openxmlformats.org/drawingml/2006/main">
              <a:ext uri="{FF2B5EF4-FFF2-40B4-BE49-F238E27FC236}">
                <a16:creationId xmlns:a16="http://schemas.microsoft.com/office/drawing/2014/main" id="{B95EF0A9-4612-4BA4-B5F1-DB179B1317B0}"/>
              </a:ext>
            </a:extLst>
          </p:cNvPr>
          <p:cNvSpPr>
            <a:spLocks xmlns:a="http://schemas.openxmlformats.org/drawingml/2006/main" noGrp="1"/>
          </p:cNvSpPr>
          <p:nvPr/>
        </p:nvSpPr>
        <p:spPr>
          <a:xfrm xmlns:a="http://schemas.openxmlformats.org/drawingml/2006/main">
            <a:off x="609600" y="1162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577"/>
                </a:solidFill>
              </a:defRPr>
            </a:defPPr>
          </a:lstStyle>
          <a:p xmlns:a="http://schemas.openxmlformats.org/drawingml/2006/main">
            <a:pPr>
              <a:defRPr sz="1800" b="0">
                <a:solidFill>
                  <a:srgbClr val="516577"/>
                </a:solidFill>
              </a:defRPr>
            </a:pPr>
            <a:r>
              <a:rPr sz="1800" b="0">
                <a:solidFill>
                  <a:srgbClr val="516577"/>
                </a:solidFill>
              </a:rPr>
              <a:t>Model inference can become the bottleneck in document ingestion.</a:t>
            </a:r>
          </a:p>
        </p:txBody>
      </p:sp>
      <p:sp>
        <p:nvSpPr>
          <p:cNvPr id="3" name="">
            <a:extLst xmlns:a="http://schemas.openxmlformats.org/drawingml/2006/main">
              <a:ext uri="{FF2B5EF4-FFF2-40B4-BE49-F238E27FC236}">
                <a16:creationId xmlns:a16="http://schemas.microsoft.com/office/drawing/2014/main" id="{1D399CC8-1559-49A3-A834-880F6F356FE2}"/>
              </a:ext>
            </a:extLst>
          </p:cNvPr>
          <p:cNvSpPr>
            <a:spLocks xmlns:a="http://schemas.openxmlformats.org/drawingml/2006/main" noGrp="1"/>
          </p:cNvSpPr>
          <p:nvPr/>
        </p:nvSpPr>
        <p:spPr>
          <a:xfrm xmlns:a="http://schemas.openxmlformats.org/drawingml/2006/main">
            <a:off x="112776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577"/>
                </a:solidFill>
              </a:defRPr>
            </a:defPPr>
          </a:lstStyle>
          <a:p xmlns:a="http://schemas.openxmlformats.org/drawingml/2006/main">
            <a:pPr>
              <a:defRPr sz="1200" b="0">
                <a:solidFill>
                  <a:srgbClr val="516577"/>
                </a:solidFill>
              </a:defRPr>
            </a:pPr>
            <a:r>
              <a:rPr sz="1200" b="0">
                <a:solidFill>
                  <a:srgbClr val="516577"/>
                </a:solidFill>
              </a:rPr>
              <a:t>04</a:t>
            </a:r>
          </a:p>
        </p:txBody>
      </p:sp>
      <p:sp>
        <p:nvSpPr>
          <p:cNvPr id="4" name="">
            <a:extLst xmlns:a="http://schemas.openxmlformats.org/drawingml/2006/main">
              <a:ext uri="{FF2B5EF4-FFF2-40B4-BE49-F238E27FC236}">
                <a16:creationId xmlns:a16="http://schemas.microsoft.com/office/drawing/2014/main" id="{4819B7D2-37C8-401C-B08D-C628B109B6E4}"/>
              </a:ext>
            </a:extLst>
          </p:cNvPr>
          <p:cNvSpPr>
            <a:spLocks xmlns:a="http://schemas.openxmlformats.org/drawingml/2006/main" noGrp="1"/>
          </p:cNvSpPr>
          <p:nvPr/>
        </p:nvSpPr>
        <p:spPr>
          <a:xfrm xmlns:a="http://schemas.openxmlformats.org/drawingml/2006/main">
            <a:off x="666750" y="20955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Inference workload</a:t>
            </a:r>
          </a:p>
        </p:txBody>
      </p:sp>
      <p:sp>
        <p:nvSpPr>
          <p:cNvPr id="5" name="">
            <a:extLst xmlns:a="http://schemas.openxmlformats.org/drawingml/2006/main">
              <a:ext uri="{FF2B5EF4-FFF2-40B4-BE49-F238E27FC236}">
                <a16:creationId xmlns:a16="http://schemas.microsoft.com/office/drawing/2014/main" id="{AFCBEE48-6A8E-4241-9DB4-9C2C56446441}"/>
              </a:ext>
            </a:extLst>
          </p:cNvPr>
          <p:cNvSpPr>
            <a:spLocks xmlns:a="http://schemas.openxmlformats.org/drawingml/2006/main" noGrp="1"/>
          </p:cNvSpPr>
          <p:nvPr/>
        </p:nvSpPr>
        <p:spPr>
          <a:xfrm xmlns:a="http://schemas.openxmlformats.org/drawingml/2006/main">
            <a:off x="3810000" y="20955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Vision models perform repeated tensor and matrix operations.</a:t>
            </a:r>
          </a:p>
        </p:txBody>
      </p:sp>
      <p:sp>
        <p:nvSpPr>
          <p:cNvPr id="6" name="">
            <a:extLst xmlns:a="http://schemas.openxmlformats.org/drawingml/2006/main">
              <a:ext uri="{FF2B5EF4-FFF2-40B4-BE49-F238E27FC236}">
                <a16:creationId xmlns:a16="http://schemas.microsoft.com/office/drawing/2014/main" id="{24C9C5BF-C6B7-49E8-834D-99979D11B90C}"/>
              </a:ext>
            </a:extLst>
          </p:cNvPr>
          <p:cNvSpPr>
            <a:spLocks xmlns:a="http://schemas.openxmlformats.org/drawingml/2006/main" noGrp="1"/>
          </p:cNvSpPr>
          <p:nvPr/>
        </p:nvSpPr>
        <p:spPr>
          <a:xfrm xmlns:a="http://schemas.openxmlformats.org/drawingml/2006/main">
            <a:off x="666750" y="29908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GPU advantage</a:t>
            </a:r>
          </a:p>
        </p:txBody>
      </p:sp>
      <p:sp>
        <p:nvSpPr>
          <p:cNvPr id="7" name="">
            <a:extLst xmlns:a="http://schemas.openxmlformats.org/drawingml/2006/main">
              <a:ext uri="{FF2B5EF4-FFF2-40B4-BE49-F238E27FC236}">
                <a16:creationId xmlns:a16="http://schemas.microsoft.com/office/drawing/2014/main" id="{8C065D40-18E1-4912-A11C-E7A8472FCE5B}"/>
              </a:ext>
            </a:extLst>
          </p:cNvPr>
          <p:cNvSpPr>
            <a:spLocks xmlns:a="http://schemas.openxmlformats.org/drawingml/2006/main" noGrp="1"/>
          </p:cNvSpPr>
          <p:nvPr/>
        </p:nvSpPr>
        <p:spPr>
          <a:xfrm xmlns:a="http://schemas.openxmlformats.org/drawingml/2006/main">
            <a:off x="3810000" y="29908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Parallel execution can increase pages processed per minute.</a:t>
            </a:r>
          </a:p>
        </p:txBody>
      </p:sp>
      <p:sp>
        <p:nvSpPr>
          <p:cNvPr id="8" name="">
            <a:extLst xmlns:a="http://schemas.openxmlformats.org/drawingml/2006/main">
              <a:ext uri="{FF2B5EF4-FFF2-40B4-BE49-F238E27FC236}">
                <a16:creationId xmlns:a16="http://schemas.microsoft.com/office/drawing/2014/main" id="{DD79759B-8E5C-4DF7-956D-5A317A781933}"/>
              </a:ext>
            </a:extLst>
          </p:cNvPr>
          <p:cNvSpPr>
            <a:spLocks xmlns:a="http://schemas.openxmlformats.org/drawingml/2006/main" noGrp="1"/>
          </p:cNvSpPr>
          <p:nvPr/>
        </p:nvSpPr>
        <p:spPr>
          <a:xfrm xmlns:a="http://schemas.openxmlformats.org/drawingml/2006/main">
            <a:off x="666750" y="38862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Production benefit</a:t>
            </a:r>
          </a:p>
        </p:txBody>
      </p:sp>
      <p:sp>
        <p:nvSpPr>
          <p:cNvPr id="9" name="">
            <a:extLst xmlns:a="http://schemas.openxmlformats.org/drawingml/2006/main">
              <a:ext uri="{FF2B5EF4-FFF2-40B4-BE49-F238E27FC236}">
                <a16:creationId xmlns:a16="http://schemas.microsoft.com/office/drawing/2014/main" id="{97D0E8ED-17F8-4D96-8EF7-61431F732FEA}"/>
              </a:ext>
            </a:extLst>
          </p:cNvPr>
          <p:cNvSpPr>
            <a:spLocks xmlns:a="http://schemas.openxmlformats.org/drawingml/2006/main" noGrp="1"/>
          </p:cNvSpPr>
          <p:nvPr/>
        </p:nvSpPr>
        <p:spPr>
          <a:xfrm xmlns:a="http://schemas.openxmlformats.org/drawingml/2006/main">
            <a:off x="3810000" y="38862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Faster ingestion can reduce the time before documents enter RAG.</a:t>
            </a:r>
          </a:p>
        </p:txBody>
      </p:sp>
      <p:sp>
        <p:nvSpPr>
          <p:cNvPr id="10" name="">
            <a:extLst xmlns:a="http://schemas.openxmlformats.org/drawingml/2006/main">
              <a:ext uri="{FF2B5EF4-FFF2-40B4-BE49-F238E27FC236}">
                <a16:creationId xmlns:a16="http://schemas.microsoft.com/office/drawing/2014/main" id="{A6EC4DEB-BC83-4F18-9CA9-9953D1530CB2}"/>
              </a:ext>
            </a:extLst>
          </p:cNvPr>
          <p:cNvSpPr>
            <a:spLocks xmlns:a="http://schemas.openxmlformats.org/drawingml/2006/main" noGrp="1"/>
          </p:cNvSpPr>
          <p:nvPr/>
        </p:nvSpPr>
        <p:spPr>
          <a:xfrm xmlns:a="http://schemas.openxmlformats.org/drawingml/2006/main">
            <a:off x="666750" y="47815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Capacity decision</a:t>
            </a:r>
          </a:p>
        </p:txBody>
      </p:sp>
      <p:sp>
        <p:nvSpPr>
          <p:cNvPr id="11" name="">
            <a:extLst xmlns:a="http://schemas.openxmlformats.org/drawingml/2006/main">
              <a:ext uri="{FF2B5EF4-FFF2-40B4-BE49-F238E27FC236}">
                <a16:creationId xmlns:a16="http://schemas.microsoft.com/office/drawing/2014/main" id="{EFB780A6-D3E8-44AE-92F1-0B12901516A3}"/>
              </a:ext>
            </a:extLst>
          </p:cNvPr>
          <p:cNvSpPr>
            <a:spLocks xmlns:a="http://schemas.openxmlformats.org/drawingml/2006/main" noGrp="1"/>
          </p:cNvSpPr>
          <p:nvPr/>
        </p:nvSpPr>
        <p:spPr>
          <a:xfrm xmlns:a="http://schemas.openxmlformats.org/drawingml/2006/main">
            <a:off x="3810000" y="47815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Benchmark latency, GPU memory and cost per page on your PDFs.</a:t>
            </a:r>
          </a:p>
        </p:txBody>
      </p:sp>
    </p:spTree>
    <p:extLst>
      <p:ext uri="{BB962C8B-B14F-4D97-AF65-F5344CB8AC3E}">
        <p14:creationId xmlns:p14="http://schemas.microsoft.com/office/powerpoint/2010/main" val="804376858"/>
      </p:ext>
    </p:extLst>
  </p:cSld>
</p:sld>
</file>

<file path=ppt/slides/slide5.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64A2DFD7-7114-4276-B242-F004AA459B3C}"/>
              </a:ext>
            </a:extLst>
          </p:cNvPr>
          <p:cNvCxnSpPr>
            <a:stCxn xmlns:a="http://schemas.openxmlformats.org/drawingml/2006/main" id="6" idx="3"/>
            <a:endCxn xmlns:a="http://schemas.openxmlformats.org/drawingml/2006/main" id="7" idx="1"/>
          </p:cNvCxnSpPr>
          <p:nvPr/>
        </p:nvCxnSpPr>
        <p:spPr>
          <a:xfrm xmlns:a="http://schemas.openxmlformats.org/drawingml/2006/main">
            <a:off x="8724900" y="2762250"/>
            <a:ext cx="457200" cy="0"/>
          </a:xfrm>
          <a:prstGeom xmlns:a="http://schemas.openxmlformats.org/drawingml/2006/main" prst="straightConnector1">
            <a:avLst/>
          </a:prstGeom>
          <a:ln xmlns:a="http://schemas.openxmlformats.org/drawingml/2006/main" w="19050">
            <a:solidFill>
              <a:srgbClr val="7794AC"/>
            </a:solidFill>
            <a:tailEnd type="arrow" w="med" len="med"/>
          </a:ln>
        </p:spPr>
      </p:cxnSp>
      <p:cxnSp>
        <p:nvCxnSpPr>
          <p:cNvPr id="9" name="">
            <a:extLst xmlns:a="http://schemas.openxmlformats.org/drawingml/2006/main">
              <a:ext uri="{FF2B5EF4-FFF2-40B4-BE49-F238E27FC236}">
                <a16:creationId xmlns:a16="http://schemas.microsoft.com/office/drawing/2014/main" id="{F930C06C-069D-4025-99E2-9998B96B859C}"/>
              </a:ext>
            </a:extLst>
          </p:cNvPr>
          <p:cNvCxnSpPr>
            <a:stCxn xmlns:a="http://schemas.openxmlformats.org/drawingml/2006/main" id="5" idx="3"/>
            <a:endCxn xmlns:a="http://schemas.openxmlformats.org/drawingml/2006/main" id="6" idx="1"/>
          </p:cNvCxnSpPr>
          <p:nvPr/>
        </p:nvCxnSpPr>
        <p:spPr>
          <a:xfrm xmlns:a="http://schemas.openxmlformats.org/drawingml/2006/main">
            <a:off x="5867400" y="2762250"/>
            <a:ext cx="457200" cy="0"/>
          </a:xfrm>
          <a:prstGeom xmlns:a="http://schemas.openxmlformats.org/drawingml/2006/main" prst="straightConnector1">
            <a:avLst/>
          </a:prstGeom>
          <a:ln xmlns:a="http://schemas.openxmlformats.org/drawingml/2006/main" w="19050">
            <a:solidFill>
              <a:srgbClr val="7794AC"/>
            </a:solidFill>
            <a:tailEnd type="arrow" w="med" len="med"/>
          </a:ln>
        </p:spPr>
      </p:cxnSp>
      <p:cxnSp>
        <p:nvCxnSpPr>
          <p:cNvPr id="8" name="">
            <a:extLst xmlns:a="http://schemas.openxmlformats.org/drawingml/2006/main">
              <a:ext uri="{FF2B5EF4-FFF2-40B4-BE49-F238E27FC236}">
                <a16:creationId xmlns:a16="http://schemas.microsoft.com/office/drawing/2014/main" id="{E4888533-EB40-4FC7-AA54-956F576AC461}"/>
              </a:ext>
            </a:extLst>
          </p:cNvPr>
          <p:cNvCxnSpPr>
            <a:stCxn xmlns:a="http://schemas.openxmlformats.org/drawingml/2006/main" id="4" idx="3"/>
            <a:endCxn xmlns:a="http://schemas.openxmlformats.org/drawingml/2006/main" id="5" idx="1"/>
          </p:cNvCxnSpPr>
          <p:nvPr/>
        </p:nvCxnSpPr>
        <p:spPr>
          <a:xfrm xmlns:a="http://schemas.openxmlformats.org/drawingml/2006/main">
            <a:off x="3009900" y="2762250"/>
            <a:ext cx="457200" cy="0"/>
          </a:xfrm>
          <a:prstGeom xmlns:a="http://schemas.openxmlformats.org/drawingml/2006/main" prst="straightConnector1">
            <a:avLst/>
          </a:prstGeom>
          <a:ln xmlns:a="http://schemas.openxmlformats.org/drawingml/2006/main" w="19050">
            <a:solidFill>
              <a:srgbClr val="7794AC"/>
            </a:solidFill>
            <a:tailEnd type="arrow" w="med" len="med"/>
          </a:ln>
        </p:spPr>
      </p:cxnSp>
      <p:sp>
        <p:nvSpPr>
          <p:cNvPr id="15" name="">
            <a:extLst xmlns:a="http://schemas.openxmlformats.org/drawingml/2006/main">
              <a:ext uri="{FF2B5EF4-FFF2-40B4-BE49-F238E27FC236}">
                <a16:creationId xmlns:a16="http://schemas.microsoft.com/office/drawing/2014/main" id="{3035383F-919F-4EF4-B9FD-5FBF7D3AC413}"/>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9344D"/>
                </a:solidFill>
              </a:defRPr>
            </a:defPPr>
          </a:lstStyle>
          <a:p xmlns:a="http://schemas.openxmlformats.org/drawingml/2006/main">
            <a:pPr>
              <a:defRPr sz="3150" b="1">
                <a:solidFill>
                  <a:srgbClr val="19344D"/>
                </a:solidFill>
              </a:defRPr>
            </a:pPr>
            <a:r>
              <a:rPr sz="3150" b="1">
                <a:solidFill>
                  <a:srgbClr val="19344D"/>
                </a:solidFill>
              </a:rPr>
              <a:t>When GPU enablement is justified</a:t>
            </a:r>
          </a:p>
        </p:txBody>
      </p:sp>
      <p:sp>
        <p:nvSpPr>
          <p:cNvPr id="2" name="">
            <a:extLst xmlns:a="http://schemas.openxmlformats.org/drawingml/2006/main">
              <a:ext uri="{FF2B5EF4-FFF2-40B4-BE49-F238E27FC236}">
                <a16:creationId xmlns:a16="http://schemas.microsoft.com/office/drawing/2014/main" id="{EDDD81E6-FF59-41D8-89AD-5A7A739C4262}"/>
              </a:ext>
            </a:extLst>
          </p:cNvPr>
          <p:cNvSpPr>
            <a:spLocks xmlns:a="http://schemas.openxmlformats.org/drawingml/2006/main" noGrp="1"/>
          </p:cNvSpPr>
          <p:nvPr/>
        </p:nvSpPr>
        <p:spPr>
          <a:xfrm xmlns:a="http://schemas.openxmlformats.org/drawingml/2006/main">
            <a:off x="609600" y="1162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577"/>
                </a:solidFill>
              </a:defRPr>
            </a:defPPr>
          </a:lstStyle>
          <a:p xmlns:a="http://schemas.openxmlformats.org/drawingml/2006/main">
            <a:pPr>
              <a:defRPr sz="1800" b="0">
                <a:solidFill>
                  <a:srgbClr val="516577"/>
                </a:solidFill>
              </a:defRPr>
            </a:pPr>
            <a:r>
              <a:rPr sz="1800" b="0">
                <a:solidFill>
                  <a:srgbClr val="516577"/>
                </a:solidFill>
              </a:rPr>
              <a:t>The parsing tier and production demand determine the deployment choice.</a:t>
            </a:r>
          </a:p>
        </p:txBody>
      </p:sp>
      <p:sp>
        <p:nvSpPr>
          <p:cNvPr id="3" name="">
            <a:extLst xmlns:a="http://schemas.openxmlformats.org/drawingml/2006/main">
              <a:ext uri="{FF2B5EF4-FFF2-40B4-BE49-F238E27FC236}">
                <a16:creationId xmlns:a16="http://schemas.microsoft.com/office/drawing/2014/main" id="{F9BAAC38-5D6B-4D06-BBAC-6BB17C1BB04C}"/>
              </a:ext>
            </a:extLst>
          </p:cNvPr>
          <p:cNvSpPr>
            <a:spLocks xmlns:a="http://schemas.openxmlformats.org/drawingml/2006/main" noGrp="1"/>
          </p:cNvSpPr>
          <p:nvPr/>
        </p:nvSpPr>
        <p:spPr>
          <a:xfrm xmlns:a="http://schemas.openxmlformats.org/drawingml/2006/main">
            <a:off x="112776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577"/>
                </a:solidFill>
              </a:defRPr>
            </a:defPPr>
          </a:lstStyle>
          <a:p xmlns:a="http://schemas.openxmlformats.org/drawingml/2006/main">
            <a:pPr>
              <a:defRPr sz="1200" b="0">
                <a:solidFill>
                  <a:srgbClr val="516577"/>
                </a:solidFill>
              </a:defRPr>
            </a:pPr>
            <a:r>
              <a:rPr sz="1200" b="0">
                <a:solidFill>
                  <a:srgbClr val="516577"/>
                </a:solidFill>
              </a:rPr>
              <a:t>05</a:t>
            </a:r>
          </a:p>
        </p:txBody>
      </p:sp>
      <p:sp>
        <p:nvSpPr>
          <p:cNvPr id="4" name="">
            <a:extLst xmlns:a="http://schemas.openxmlformats.org/drawingml/2006/main">
              <a:ext uri="{FF2B5EF4-FFF2-40B4-BE49-F238E27FC236}">
                <a16:creationId xmlns:a16="http://schemas.microsoft.com/office/drawing/2014/main" id="{4BD656F0-D8EA-4FCE-82CB-6B9319749E34}"/>
              </a:ext>
            </a:extLst>
          </p:cNvPr>
          <p:cNvSpPr>
            <a:spLocks xmlns:a="http://schemas.openxmlformats.org/drawingml/2006/main" noGrp="1"/>
          </p:cNvSpPr>
          <p:nvPr/>
        </p:nvSpPr>
        <p:spPr>
          <a:xfrm xmlns:a="http://schemas.openxmlformats.org/drawingml/2006/main">
            <a:off x="609600" y="2286000"/>
            <a:ext cx="2400300" cy="952500"/>
          </a:xfrm>
          <a:prstGeom xmlns:a="http://schemas.openxmlformats.org/drawingml/2006/main" prst="rect">
            <a:avLst/>
          </a:prstGeom>
          <a:solidFill xmlns:a="http://schemas.openxmlformats.org/drawingml/2006/main">
            <a:srgbClr val="E8F1FA"/>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GPU node</a:t>
            </a:r>
          </a:p>
        </p:txBody>
      </p:sp>
      <p:sp>
        <p:nvSpPr>
          <p:cNvPr id="5" name="">
            <a:extLst xmlns:a="http://schemas.openxmlformats.org/drawingml/2006/main">
              <a:ext uri="{FF2B5EF4-FFF2-40B4-BE49-F238E27FC236}">
                <a16:creationId xmlns:a16="http://schemas.microsoft.com/office/drawing/2014/main" id="{780B98E2-925D-4BA9-8242-A07D5F65EFC3}"/>
              </a:ext>
            </a:extLst>
          </p:cNvPr>
          <p:cNvSpPr>
            <a:spLocks xmlns:a="http://schemas.openxmlformats.org/drawingml/2006/main" noGrp="1"/>
          </p:cNvSpPr>
          <p:nvPr/>
        </p:nvSpPr>
        <p:spPr>
          <a:xfrm xmlns:a="http://schemas.openxmlformats.org/drawingml/2006/main">
            <a:off x="3467100" y="2286000"/>
            <a:ext cx="2400300" cy="952500"/>
          </a:xfrm>
          <a:prstGeom xmlns:a="http://schemas.openxmlformats.org/drawingml/2006/main" prst="rect">
            <a:avLst/>
          </a:prstGeom>
          <a:solidFill xmlns:a="http://schemas.openxmlformats.org/drawingml/2006/main">
            <a:srgbClr val="E7F4F1"/>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Driver and</a:t>
            </a:r>
          </a:p>
          <a:p xmlns:a="http://schemas.openxmlformats.org/drawingml/2006/main">
            <a:pPr algn="ctr">
              <a:defRPr sz="1875" b="1">
                <a:solidFill>
                  <a:srgbClr val="19344D"/>
                </a:solidFill>
              </a:defRPr>
            </a:pPr>
            <a:r>
              <a:rPr sz="1875" b="1">
                <a:solidFill>
                  <a:srgbClr val="19344D"/>
                </a:solidFill>
              </a:rPr>
              <a:t>device plugin</a:t>
            </a:r>
          </a:p>
        </p:txBody>
      </p:sp>
      <p:sp>
        <p:nvSpPr>
          <p:cNvPr id="6" name="">
            <a:extLst xmlns:a="http://schemas.openxmlformats.org/drawingml/2006/main">
              <a:ext uri="{FF2B5EF4-FFF2-40B4-BE49-F238E27FC236}">
                <a16:creationId xmlns:a16="http://schemas.microsoft.com/office/drawing/2014/main" id="{35ACD13D-AAD2-4622-A804-24B26050F934}"/>
              </a:ext>
            </a:extLst>
          </p:cNvPr>
          <p:cNvSpPr>
            <a:spLocks xmlns:a="http://schemas.openxmlformats.org/drawingml/2006/main" noGrp="1"/>
          </p:cNvSpPr>
          <p:nvPr/>
        </p:nvSpPr>
        <p:spPr>
          <a:xfrm xmlns:a="http://schemas.openxmlformats.org/drawingml/2006/main">
            <a:off x="6324600" y="2286000"/>
            <a:ext cx="2400300" cy="952500"/>
          </a:xfrm>
          <a:prstGeom xmlns:a="http://schemas.openxmlformats.org/drawingml/2006/main" prst="rect">
            <a:avLst/>
          </a:prstGeom>
          <a:solidFill xmlns:a="http://schemas.openxmlformats.org/drawingml/2006/main">
            <a:srgbClr val="E8F1FA"/>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Pod GPU</a:t>
            </a:r>
          </a:p>
          <a:p xmlns:a="http://schemas.openxmlformats.org/drawingml/2006/main">
            <a:pPr algn="ctr">
              <a:defRPr sz="1875" b="1">
                <a:solidFill>
                  <a:srgbClr val="19344D"/>
                </a:solidFill>
              </a:defRPr>
            </a:pPr>
            <a:r>
              <a:rPr sz="1875" b="1">
                <a:solidFill>
                  <a:srgbClr val="19344D"/>
                </a:solidFill>
              </a:rPr>
              <a:t>allocation</a:t>
            </a:r>
          </a:p>
        </p:txBody>
      </p:sp>
      <p:sp>
        <p:nvSpPr>
          <p:cNvPr id="7" name="">
            <a:extLst xmlns:a="http://schemas.openxmlformats.org/drawingml/2006/main">
              <a:ext uri="{FF2B5EF4-FFF2-40B4-BE49-F238E27FC236}">
                <a16:creationId xmlns:a16="http://schemas.microsoft.com/office/drawing/2014/main" id="{CF49C2DD-19E2-410E-BEB2-0509B56FA5BA}"/>
              </a:ext>
            </a:extLst>
          </p:cNvPr>
          <p:cNvSpPr>
            <a:spLocks xmlns:a="http://schemas.openxmlformats.org/drawingml/2006/main" noGrp="1"/>
          </p:cNvSpPr>
          <p:nvPr/>
        </p:nvSpPr>
        <p:spPr>
          <a:xfrm xmlns:a="http://schemas.openxmlformats.org/drawingml/2006/main">
            <a:off x="9182100" y="2286000"/>
            <a:ext cx="2400300" cy="952500"/>
          </a:xfrm>
          <a:prstGeom xmlns:a="http://schemas.openxmlformats.org/drawingml/2006/main" prst="rect">
            <a:avLst/>
          </a:prstGeom>
          <a:solidFill xmlns:a="http://schemas.openxmlformats.org/drawingml/2006/main">
            <a:srgbClr val="E7F4F1"/>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MinerU GPU</a:t>
            </a:r>
          </a:p>
          <a:p xmlns:a="http://schemas.openxmlformats.org/drawingml/2006/main">
            <a:pPr algn="ctr">
              <a:defRPr sz="1875" b="1">
                <a:solidFill>
                  <a:srgbClr val="19344D"/>
                </a:solidFill>
              </a:defRPr>
            </a:pPr>
            <a:r>
              <a:rPr sz="1875" b="1">
                <a:solidFill>
                  <a:srgbClr val="19344D"/>
                </a:solidFill>
              </a:rPr>
              <a:t>inference</a:t>
            </a:r>
          </a:p>
        </p:txBody>
      </p:sp>
      <p:sp>
        <p:nvSpPr>
          <p:cNvPr id="11" name="">
            <a:extLst xmlns:a="http://schemas.openxmlformats.org/drawingml/2006/main">
              <a:ext uri="{FF2B5EF4-FFF2-40B4-BE49-F238E27FC236}">
                <a16:creationId xmlns:a16="http://schemas.microsoft.com/office/drawing/2014/main" id="{8118CD5A-C833-4166-BB45-055EA56B499E}"/>
              </a:ext>
            </a:extLst>
          </p:cNvPr>
          <p:cNvSpPr>
            <a:spLocks xmlns:a="http://schemas.openxmlformats.org/drawingml/2006/main" noGrp="1"/>
          </p:cNvSpPr>
          <p:nvPr/>
        </p:nvSpPr>
        <p:spPr>
          <a:xfrm xmlns:a="http://schemas.openxmlformats.org/drawingml/2006/main">
            <a:off x="666750" y="390525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9344D"/>
                </a:solidFill>
              </a:defRPr>
            </a:defPPr>
          </a:lstStyle>
          <a:p xmlns:a="http://schemas.openxmlformats.org/drawingml/2006/main">
            <a:pPr>
              <a:defRPr sz="2100" b="1">
                <a:solidFill>
                  <a:srgbClr val="19344D"/>
                </a:solidFill>
              </a:defRPr>
            </a:pPr>
            <a:r>
              <a:rPr sz="2100" b="1">
                <a:solidFill>
                  <a:srgbClr val="19344D"/>
                </a:solidFill>
              </a:rPr>
              <a:t>CPU is sufficient</a:t>
            </a:r>
          </a:p>
        </p:txBody>
      </p:sp>
      <p:sp>
        <p:nvSpPr>
          <p:cNvPr id="12" name="">
            <a:extLst xmlns:a="http://schemas.openxmlformats.org/drawingml/2006/main">
              <a:ext uri="{FF2B5EF4-FFF2-40B4-BE49-F238E27FC236}">
                <a16:creationId xmlns:a16="http://schemas.microsoft.com/office/drawing/2014/main" id="{E2220972-6A8E-4AE4-B0D1-078550C251D5}"/>
              </a:ext>
            </a:extLst>
          </p:cNvPr>
          <p:cNvSpPr>
            <a:spLocks xmlns:a="http://schemas.openxmlformats.org/drawingml/2006/main" noGrp="1"/>
          </p:cNvSpPr>
          <p:nvPr/>
        </p:nvSpPr>
        <p:spPr>
          <a:xfrm xmlns:a="http://schemas.openxmlformats.org/drawingml/2006/main">
            <a:off x="3810000" y="3905250"/>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9344D"/>
                </a:solidFill>
              </a:defRPr>
            </a:defPPr>
          </a:lstStyle>
          <a:p xmlns:a="http://schemas.openxmlformats.org/drawingml/2006/main">
            <a:pPr>
              <a:defRPr sz="1875" b="0">
                <a:solidFill>
                  <a:srgbClr val="19344D"/>
                </a:solidFill>
              </a:defRPr>
            </a:pPr>
            <a:r>
              <a:rPr sz="1875" b="0">
                <a:solidFill>
                  <a:srgbClr val="19344D"/>
                </a:solidFill>
              </a:rPr>
              <a:t>Native text extraction and Basic workloads that meet your latency target.</a:t>
            </a:r>
          </a:p>
        </p:txBody>
      </p:sp>
      <p:sp>
        <p:nvSpPr>
          <p:cNvPr id="13" name="">
            <a:extLst xmlns:a="http://schemas.openxmlformats.org/drawingml/2006/main">
              <a:ext uri="{FF2B5EF4-FFF2-40B4-BE49-F238E27FC236}">
                <a16:creationId xmlns:a16="http://schemas.microsoft.com/office/drawing/2014/main" id="{1E45B139-215E-4924-86EA-838CC4A987D0}"/>
              </a:ext>
            </a:extLst>
          </p:cNvPr>
          <p:cNvSpPr>
            <a:spLocks xmlns:a="http://schemas.openxmlformats.org/drawingml/2006/main" noGrp="1"/>
          </p:cNvSpPr>
          <p:nvPr/>
        </p:nvSpPr>
        <p:spPr>
          <a:xfrm xmlns:a="http://schemas.openxmlformats.org/drawingml/2006/main">
            <a:off x="666750" y="500062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9344D"/>
                </a:solidFill>
              </a:defRPr>
            </a:defPPr>
          </a:lstStyle>
          <a:p xmlns:a="http://schemas.openxmlformats.org/drawingml/2006/main">
            <a:pPr>
              <a:defRPr sz="2100" b="1">
                <a:solidFill>
                  <a:srgbClr val="19344D"/>
                </a:solidFill>
              </a:defRPr>
            </a:pPr>
            <a:r>
              <a:rPr sz="2100" b="1">
                <a:solidFill>
                  <a:srgbClr val="19344D"/>
                </a:solidFill>
              </a:rPr>
              <a:t>GPU is justified</a:t>
            </a:r>
          </a:p>
        </p:txBody>
      </p:sp>
      <p:sp>
        <p:nvSpPr>
          <p:cNvPr id="14" name="">
            <a:extLst xmlns:a="http://schemas.openxmlformats.org/drawingml/2006/main">
              <a:ext uri="{FF2B5EF4-FFF2-40B4-BE49-F238E27FC236}">
                <a16:creationId xmlns:a16="http://schemas.microsoft.com/office/drawing/2014/main" id="{FE373370-AFA6-4B92-B7DE-FFB063923F70}"/>
              </a:ext>
            </a:extLst>
          </p:cNvPr>
          <p:cNvSpPr>
            <a:spLocks xmlns:a="http://schemas.openxmlformats.org/drawingml/2006/main" noGrp="1"/>
          </p:cNvSpPr>
          <p:nvPr/>
        </p:nvSpPr>
        <p:spPr>
          <a:xfrm xmlns:a="http://schemas.openxmlformats.org/drawingml/2006/main">
            <a:off x="3810000" y="500062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9344D"/>
                </a:solidFill>
              </a:defRPr>
            </a:defPPr>
          </a:lstStyle>
          <a:p xmlns:a="http://schemas.openxmlformats.org/drawingml/2006/main">
            <a:pPr>
              <a:defRPr sz="1875" b="0">
                <a:solidFill>
                  <a:srgbClr val="19344D"/>
                </a:solidFill>
              </a:defRPr>
            </a:pPr>
            <a:r>
              <a:rPr sz="1875" b="0">
                <a:solidFill>
                  <a:srgbClr val="19344D"/>
                </a:solidFill>
              </a:rPr>
              <a:t>Model-heavy parsing or sustained volume where benchmarks show a benefit.</a:t>
            </a:r>
          </a:p>
        </p:txBody>
      </p:sp>
    </p:spTree>
    <p:extLst>
      <p:ext uri="{BB962C8B-B14F-4D97-AF65-F5344CB8AC3E}">
        <p14:creationId xmlns:p14="http://schemas.microsoft.com/office/powerpoint/2010/main" val="1360395300"/>
      </p:ext>
    </p:extLst>
  </p:cSld>
</p:sld>
</file>

<file path=ppt/slides/slide6.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5B248B0-3252-43AB-9E22-6B7728F2B73F}"/>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9344D"/>
                </a:solidFill>
              </a:defRPr>
            </a:defPPr>
          </a:lstStyle>
          <a:p xmlns:a="http://schemas.openxmlformats.org/drawingml/2006/main">
            <a:pPr>
              <a:defRPr sz="3150" b="1">
                <a:solidFill>
                  <a:srgbClr val="19344D"/>
                </a:solidFill>
              </a:defRPr>
            </a:pPr>
            <a:r>
              <a:rPr sz="3150" b="1">
                <a:solidFill>
                  <a:srgbClr val="19344D"/>
                </a:solidFill>
              </a:rPr>
              <a:t>Production requirements</a:t>
            </a:r>
          </a:p>
        </p:txBody>
      </p:sp>
      <p:sp>
        <p:nvSpPr>
          <p:cNvPr id="2" name="">
            <a:extLst xmlns:a="http://schemas.openxmlformats.org/drawingml/2006/main">
              <a:ext uri="{FF2B5EF4-FFF2-40B4-BE49-F238E27FC236}">
                <a16:creationId xmlns:a16="http://schemas.microsoft.com/office/drawing/2014/main" id="{2A4CAC44-C92F-46E0-AAD9-0CD048B62135}"/>
              </a:ext>
            </a:extLst>
          </p:cNvPr>
          <p:cNvSpPr>
            <a:spLocks xmlns:a="http://schemas.openxmlformats.org/drawingml/2006/main" noGrp="1"/>
          </p:cNvSpPr>
          <p:nvPr/>
        </p:nvSpPr>
        <p:spPr>
          <a:xfrm xmlns:a="http://schemas.openxmlformats.org/drawingml/2006/main">
            <a:off x="609600" y="1162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577"/>
                </a:solidFill>
              </a:defRPr>
            </a:defPPr>
          </a:lstStyle>
          <a:p xmlns:a="http://schemas.openxmlformats.org/drawingml/2006/main">
            <a:pPr>
              <a:defRPr sz="1800" b="0">
                <a:solidFill>
                  <a:srgbClr val="516577"/>
                </a:solidFill>
              </a:defRPr>
            </a:pPr>
            <a:r>
              <a:rPr sz="1800" b="0">
                <a:solidFill>
                  <a:srgbClr val="516577"/>
                </a:solidFill>
              </a:rPr>
              <a:t>Hardware sizing is a benchmark decision, not a universal minimum.</a:t>
            </a:r>
          </a:p>
        </p:txBody>
      </p:sp>
      <p:sp>
        <p:nvSpPr>
          <p:cNvPr id="3" name="">
            <a:extLst xmlns:a="http://schemas.openxmlformats.org/drawingml/2006/main">
              <a:ext uri="{FF2B5EF4-FFF2-40B4-BE49-F238E27FC236}">
                <a16:creationId xmlns:a16="http://schemas.microsoft.com/office/drawing/2014/main" id="{71B6868E-D2A9-4EFC-ACC8-E982F96D2FE2}"/>
              </a:ext>
            </a:extLst>
          </p:cNvPr>
          <p:cNvSpPr>
            <a:spLocks xmlns:a="http://schemas.openxmlformats.org/drawingml/2006/main" noGrp="1"/>
          </p:cNvSpPr>
          <p:nvPr/>
        </p:nvSpPr>
        <p:spPr>
          <a:xfrm xmlns:a="http://schemas.openxmlformats.org/drawingml/2006/main">
            <a:off x="112776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577"/>
                </a:solidFill>
              </a:defRPr>
            </a:defPPr>
          </a:lstStyle>
          <a:p xmlns:a="http://schemas.openxmlformats.org/drawingml/2006/main">
            <a:pPr>
              <a:defRPr sz="1200" b="0">
                <a:solidFill>
                  <a:srgbClr val="516577"/>
                </a:solidFill>
              </a:defRPr>
            </a:pPr>
            <a:r>
              <a:rPr sz="1200" b="0">
                <a:solidFill>
                  <a:srgbClr val="516577"/>
                </a:solidFill>
              </a:rPr>
              <a:t>06</a:t>
            </a:r>
          </a:p>
        </p:txBody>
      </p:sp>
      <p:sp>
        <p:nvSpPr>
          <p:cNvPr id="4" name="">
            <a:extLst xmlns:a="http://schemas.openxmlformats.org/drawingml/2006/main">
              <a:ext uri="{FF2B5EF4-FFF2-40B4-BE49-F238E27FC236}">
                <a16:creationId xmlns:a16="http://schemas.microsoft.com/office/drawing/2014/main" id="{94DC3657-CE2A-42EF-B288-806D6AE28AC5}"/>
              </a:ext>
            </a:extLst>
          </p:cNvPr>
          <p:cNvSpPr>
            <a:spLocks xmlns:a="http://schemas.openxmlformats.org/drawingml/2006/main" noGrp="1"/>
          </p:cNvSpPr>
          <p:nvPr/>
        </p:nvSpPr>
        <p:spPr>
          <a:xfrm xmlns:a="http://schemas.openxmlformats.org/drawingml/2006/main">
            <a:off x="666750" y="20955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Software</a:t>
            </a:r>
          </a:p>
        </p:txBody>
      </p:sp>
      <p:sp>
        <p:nvSpPr>
          <p:cNvPr id="5" name="">
            <a:extLst xmlns:a="http://schemas.openxmlformats.org/drawingml/2006/main">
              <a:ext uri="{FF2B5EF4-FFF2-40B4-BE49-F238E27FC236}">
                <a16:creationId xmlns:a16="http://schemas.microsoft.com/office/drawing/2014/main" id="{07FDD63B-10A8-4A2D-A49E-054EFD369465}"/>
              </a:ext>
            </a:extLst>
          </p:cNvPr>
          <p:cNvSpPr>
            <a:spLocks xmlns:a="http://schemas.openxmlformats.org/drawingml/2006/main" noGrp="1"/>
          </p:cNvSpPr>
          <p:nvPr/>
        </p:nvSpPr>
        <p:spPr>
          <a:xfrm xmlns:a="http://schemas.openxmlformats.org/drawingml/2006/main">
            <a:off x="3810000" y="20955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Pin MinerU, Python, inference engine and model revisions.</a:t>
            </a:r>
          </a:p>
        </p:txBody>
      </p:sp>
      <p:sp>
        <p:nvSpPr>
          <p:cNvPr id="6" name="">
            <a:extLst xmlns:a="http://schemas.openxmlformats.org/drawingml/2006/main">
              <a:ext uri="{FF2B5EF4-FFF2-40B4-BE49-F238E27FC236}">
                <a16:creationId xmlns:a16="http://schemas.microsoft.com/office/drawing/2014/main" id="{27714BB9-F680-4ABD-AC67-41DF4E3179D4}"/>
              </a:ext>
            </a:extLst>
          </p:cNvPr>
          <p:cNvSpPr>
            <a:spLocks xmlns:a="http://schemas.openxmlformats.org/drawingml/2006/main" noGrp="1"/>
          </p:cNvSpPr>
          <p:nvPr/>
        </p:nvSpPr>
        <p:spPr>
          <a:xfrm xmlns:a="http://schemas.openxmlformats.org/drawingml/2006/main">
            <a:off x="666750" y="29908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Compute</a:t>
            </a:r>
          </a:p>
        </p:txBody>
      </p:sp>
      <p:sp>
        <p:nvSpPr>
          <p:cNvPr id="7" name="">
            <a:extLst xmlns:a="http://schemas.openxmlformats.org/drawingml/2006/main">
              <a:ext uri="{FF2B5EF4-FFF2-40B4-BE49-F238E27FC236}">
                <a16:creationId xmlns:a16="http://schemas.microsoft.com/office/drawing/2014/main" id="{49E0CEE1-7967-4DC2-AA6E-E6862C36E6F3}"/>
              </a:ext>
            </a:extLst>
          </p:cNvPr>
          <p:cNvSpPr>
            <a:spLocks xmlns:a="http://schemas.openxmlformats.org/drawingml/2006/main" noGrp="1"/>
          </p:cNvSpPr>
          <p:nvPr/>
        </p:nvSpPr>
        <p:spPr>
          <a:xfrm xmlns:a="http://schemas.openxmlformats.org/drawingml/2006/main">
            <a:off x="3810000" y="29908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Compatible NVIDIA GPU, driver and CUDA runtime for the chosen image.</a:t>
            </a:r>
          </a:p>
        </p:txBody>
      </p:sp>
      <p:sp>
        <p:nvSpPr>
          <p:cNvPr id="8" name="">
            <a:extLst xmlns:a="http://schemas.openxmlformats.org/drawingml/2006/main">
              <a:ext uri="{FF2B5EF4-FFF2-40B4-BE49-F238E27FC236}">
                <a16:creationId xmlns:a16="http://schemas.microsoft.com/office/drawing/2014/main" id="{53A55F91-B43B-4BD6-A372-5226D985FDBC}"/>
              </a:ext>
            </a:extLst>
          </p:cNvPr>
          <p:cNvSpPr>
            <a:spLocks xmlns:a="http://schemas.openxmlformats.org/drawingml/2006/main" noGrp="1"/>
          </p:cNvSpPr>
          <p:nvPr/>
        </p:nvSpPr>
        <p:spPr>
          <a:xfrm xmlns:a="http://schemas.openxmlformats.org/drawingml/2006/main">
            <a:off x="666750" y="38862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AWS services</a:t>
            </a:r>
          </a:p>
        </p:txBody>
      </p:sp>
      <p:sp>
        <p:nvSpPr>
          <p:cNvPr id="9" name="">
            <a:extLst xmlns:a="http://schemas.openxmlformats.org/drawingml/2006/main">
              <a:ext uri="{FF2B5EF4-FFF2-40B4-BE49-F238E27FC236}">
                <a16:creationId xmlns:a16="http://schemas.microsoft.com/office/drawing/2014/main" id="{F6973F8A-56CF-4C3B-9A10-BA2D50341E16}"/>
              </a:ext>
            </a:extLst>
          </p:cNvPr>
          <p:cNvSpPr>
            <a:spLocks xmlns:a="http://schemas.openxmlformats.org/drawingml/2006/main" noGrp="1"/>
          </p:cNvSpPr>
          <p:nvPr/>
        </p:nvSpPr>
        <p:spPr>
          <a:xfrm xmlns:a="http://schemas.openxmlformats.org/drawingml/2006/main">
            <a:off x="3810000" y="38862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EKS, ECR, S3, SQS and PostgreSQL with pgvector.</a:t>
            </a:r>
          </a:p>
        </p:txBody>
      </p:sp>
      <p:sp>
        <p:nvSpPr>
          <p:cNvPr id="10" name="">
            <a:extLst xmlns:a="http://schemas.openxmlformats.org/drawingml/2006/main">
              <a:ext uri="{FF2B5EF4-FFF2-40B4-BE49-F238E27FC236}">
                <a16:creationId xmlns:a16="http://schemas.microsoft.com/office/drawing/2014/main" id="{580DFE6B-177E-4244-B814-07B548B080D1}"/>
              </a:ext>
            </a:extLst>
          </p:cNvPr>
          <p:cNvSpPr>
            <a:spLocks xmlns:a="http://schemas.openxmlformats.org/drawingml/2006/main" noGrp="1"/>
          </p:cNvSpPr>
          <p:nvPr/>
        </p:nvSpPr>
        <p:spPr>
          <a:xfrm xmlns:a="http://schemas.openxmlformats.org/drawingml/2006/main">
            <a:off x="666750" y="47815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Release readiness</a:t>
            </a:r>
          </a:p>
        </p:txBody>
      </p:sp>
      <p:sp>
        <p:nvSpPr>
          <p:cNvPr id="11" name="">
            <a:extLst xmlns:a="http://schemas.openxmlformats.org/drawingml/2006/main">
              <a:ext uri="{FF2B5EF4-FFF2-40B4-BE49-F238E27FC236}">
                <a16:creationId xmlns:a16="http://schemas.microsoft.com/office/drawing/2014/main" id="{0FF1E56C-6113-441D-B3C1-1E352F95C18A}"/>
              </a:ext>
            </a:extLst>
          </p:cNvPr>
          <p:cNvSpPr>
            <a:spLocks xmlns:a="http://schemas.openxmlformats.org/drawingml/2006/main" noGrp="1"/>
          </p:cNvSpPr>
          <p:nvPr/>
        </p:nvSpPr>
        <p:spPr>
          <a:xfrm xmlns:a="http://schemas.openxmlformats.org/drawingml/2006/main">
            <a:off x="3810000" y="47815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Model availability, licence review, test corpus and service targets.</a:t>
            </a:r>
          </a:p>
        </p:txBody>
      </p:sp>
    </p:spTree>
    <p:extLst>
      <p:ext uri="{BB962C8B-B14F-4D97-AF65-F5344CB8AC3E}">
        <p14:creationId xmlns:p14="http://schemas.microsoft.com/office/powerpoint/2010/main" val="1433531222"/>
      </p:ext>
    </p:extLst>
  </p:cSld>
</p:sld>
</file>

<file path=ppt/slides/slide7.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4B63DEEF-CFCE-4FF9-A2D6-EEF5F44DB792}"/>
              </a:ext>
            </a:extLst>
          </p:cNvPr>
          <p:cNvCxnSpPr>
            <a:stCxn xmlns:a="http://schemas.openxmlformats.org/drawingml/2006/main" id="6" idx="3"/>
            <a:endCxn xmlns:a="http://schemas.openxmlformats.org/drawingml/2006/main" id="7" idx="1"/>
          </p:cNvCxnSpPr>
          <p:nvPr/>
        </p:nvCxnSpPr>
        <p:spPr>
          <a:xfrm xmlns:a="http://schemas.openxmlformats.org/drawingml/2006/main">
            <a:off x="8724900" y="2857500"/>
            <a:ext cx="457200" cy="0"/>
          </a:xfrm>
          <a:prstGeom xmlns:a="http://schemas.openxmlformats.org/drawingml/2006/main" prst="straightConnector1">
            <a:avLst/>
          </a:prstGeom>
          <a:ln xmlns:a="http://schemas.openxmlformats.org/drawingml/2006/main" w="19050">
            <a:solidFill>
              <a:srgbClr val="7794AC"/>
            </a:solidFill>
            <a:tailEnd type="arrow" w="med" len="med"/>
          </a:ln>
        </p:spPr>
      </p:cxnSp>
      <p:cxnSp>
        <p:nvCxnSpPr>
          <p:cNvPr id="9" name="">
            <a:extLst xmlns:a="http://schemas.openxmlformats.org/drawingml/2006/main">
              <a:ext uri="{FF2B5EF4-FFF2-40B4-BE49-F238E27FC236}">
                <a16:creationId xmlns:a16="http://schemas.microsoft.com/office/drawing/2014/main" id="{5D0252D9-1364-4D27-9F19-E2FB534999CB}"/>
              </a:ext>
            </a:extLst>
          </p:cNvPr>
          <p:cNvCxnSpPr>
            <a:stCxn xmlns:a="http://schemas.openxmlformats.org/drawingml/2006/main" id="5" idx="3"/>
            <a:endCxn xmlns:a="http://schemas.openxmlformats.org/drawingml/2006/main" id="6" idx="1"/>
          </p:cNvCxnSpPr>
          <p:nvPr/>
        </p:nvCxnSpPr>
        <p:spPr>
          <a:xfrm xmlns:a="http://schemas.openxmlformats.org/drawingml/2006/main">
            <a:off x="5867400" y="2857500"/>
            <a:ext cx="457200" cy="0"/>
          </a:xfrm>
          <a:prstGeom xmlns:a="http://schemas.openxmlformats.org/drawingml/2006/main" prst="straightConnector1">
            <a:avLst/>
          </a:prstGeom>
          <a:ln xmlns:a="http://schemas.openxmlformats.org/drawingml/2006/main" w="19050">
            <a:solidFill>
              <a:srgbClr val="7794AC"/>
            </a:solidFill>
            <a:tailEnd type="arrow" w="med" len="med"/>
          </a:ln>
        </p:spPr>
      </p:cxnSp>
      <p:cxnSp>
        <p:nvCxnSpPr>
          <p:cNvPr id="8" name="">
            <a:extLst xmlns:a="http://schemas.openxmlformats.org/drawingml/2006/main">
              <a:ext uri="{FF2B5EF4-FFF2-40B4-BE49-F238E27FC236}">
                <a16:creationId xmlns:a16="http://schemas.microsoft.com/office/drawing/2014/main" id="{7651A6DB-E957-4737-9E4A-2217D589FDDC}"/>
              </a:ext>
            </a:extLst>
          </p:cNvPr>
          <p:cNvCxnSpPr>
            <a:stCxn xmlns:a="http://schemas.openxmlformats.org/drawingml/2006/main" id="4" idx="3"/>
            <a:endCxn xmlns:a="http://schemas.openxmlformats.org/drawingml/2006/main" id="5" idx="1"/>
          </p:cNvCxnSpPr>
          <p:nvPr/>
        </p:nvCxnSpPr>
        <p:spPr>
          <a:xfrm xmlns:a="http://schemas.openxmlformats.org/drawingml/2006/main">
            <a:off x="3009900" y="2857500"/>
            <a:ext cx="457200" cy="0"/>
          </a:xfrm>
          <a:prstGeom xmlns:a="http://schemas.openxmlformats.org/drawingml/2006/main" prst="straightConnector1">
            <a:avLst/>
          </a:prstGeom>
          <a:ln xmlns:a="http://schemas.openxmlformats.org/drawingml/2006/main" w="19050">
            <a:solidFill>
              <a:srgbClr val="7794AC"/>
            </a:solidFill>
            <a:tailEnd type="arrow" w="med" len="med"/>
          </a:ln>
        </p:spPr>
      </p:cxnSp>
      <p:sp>
        <p:nvSpPr>
          <p:cNvPr id="14" name="">
            <a:extLst xmlns:a="http://schemas.openxmlformats.org/drawingml/2006/main">
              <a:ext uri="{FF2B5EF4-FFF2-40B4-BE49-F238E27FC236}">
                <a16:creationId xmlns:a16="http://schemas.microsoft.com/office/drawing/2014/main" id="{8BC1DAF9-9C22-44BE-B4A2-876A72F421FC}"/>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9344D"/>
                </a:solidFill>
              </a:defRPr>
            </a:defPPr>
          </a:lstStyle>
          <a:p xmlns:a="http://schemas.openxmlformats.org/drawingml/2006/main">
            <a:pPr>
              <a:defRPr sz="3150" b="1">
                <a:solidFill>
                  <a:srgbClr val="19344D"/>
                </a:solidFill>
              </a:defRPr>
            </a:pPr>
            <a:r>
              <a:rPr sz="3150" b="1">
                <a:solidFill>
                  <a:srgbClr val="19344D"/>
                </a:solidFill>
              </a:rPr>
              <a:t>Document ingestion workflow</a:t>
            </a:r>
          </a:p>
        </p:txBody>
      </p:sp>
      <p:sp>
        <p:nvSpPr>
          <p:cNvPr id="2" name="">
            <a:extLst xmlns:a="http://schemas.openxmlformats.org/drawingml/2006/main">
              <a:ext uri="{FF2B5EF4-FFF2-40B4-BE49-F238E27FC236}">
                <a16:creationId xmlns:a16="http://schemas.microsoft.com/office/drawing/2014/main" id="{74B772C7-DFA7-419D-B4A3-CE67137690D9}"/>
              </a:ext>
            </a:extLst>
          </p:cNvPr>
          <p:cNvSpPr>
            <a:spLocks xmlns:a="http://schemas.openxmlformats.org/drawingml/2006/main" noGrp="1"/>
          </p:cNvSpPr>
          <p:nvPr/>
        </p:nvSpPr>
        <p:spPr>
          <a:xfrm xmlns:a="http://schemas.openxmlformats.org/drawingml/2006/main">
            <a:off x="609600" y="1162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577"/>
                </a:solidFill>
              </a:defRPr>
            </a:defPPr>
          </a:lstStyle>
          <a:p xmlns:a="http://schemas.openxmlformats.org/drawingml/2006/main">
            <a:pPr>
              <a:defRPr sz="1800" b="0">
                <a:solidFill>
                  <a:srgbClr val="516577"/>
                </a:solidFill>
              </a:defRPr>
            </a:pPr>
            <a:r>
              <a:rPr sz="1800" b="0">
                <a:solidFill>
                  <a:srgbClr val="516577"/>
                </a:solidFill>
              </a:rPr>
              <a:t>A durable queue separates upload latency from parsing work.</a:t>
            </a:r>
          </a:p>
        </p:txBody>
      </p:sp>
      <p:sp>
        <p:nvSpPr>
          <p:cNvPr id="3" name="">
            <a:extLst xmlns:a="http://schemas.openxmlformats.org/drawingml/2006/main">
              <a:ext uri="{FF2B5EF4-FFF2-40B4-BE49-F238E27FC236}">
                <a16:creationId xmlns:a16="http://schemas.microsoft.com/office/drawing/2014/main" id="{59CC92F5-5FE8-4811-9D6C-2BD040720B60}"/>
              </a:ext>
            </a:extLst>
          </p:cNvPr>
          <p:cNvSpPr>
            <a:spLocks xmlns:a="http://schemas.openxmlformats.org/drawingml/2006/main" noGrp="1"/>
          </p:cNvSpPr>
          <p:nvPr/>
        </p:nvSpPr>
        <p:spPr>
          <a:xfrm xmlns:a="http://schemas.openxmlformats.org/drawingml/2006/main">
            <a:off x="112776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577"/>
                </a:solidFill>
              </a:defRPr>
            </a:defPPr>
          </a:lstStyle>
          <a:p xmlns:a="http://schemas.openxmlformats.org/drawingml/2006/main">
            <a:pPr>
              <a:defRPr sz="1200" b="0">
                <a:solidFill>
                  <a:srgbClr val="516577"/>
                </a:solidFill>
              </a:defRPr>
            </a:pPr>
            <a:r>
              <a:rPr sz="1200" b="0">
                <a:solidFill>
                  <a:srgbClr val="516577"/>
                </a:solidFill>
              </a:rPr>
              <a:t>07</a:t>
            </a:r>
          </a:p>
        </p:txBody>
      </p:sp>
      <p:sp>
        <p:nvSpPr>
          <p:cNvPr id="4" name="">
            <a:extLst xmlns:a="http://schemas.openxmlformats.org/drawingml/2006/main">
              <a:ext uri="{FF2B5EF4-FFF2-40B4-BE49-F238E27FC236}">
                <a16:creationId xmlns:a16="http://schemas.microsoft.com/office/drawing/2014/main" id="{E57478AC-ADF1-4D0B-9EE7-6F53351B305B}"/>
              </a:ext>
            </a:extLst>
          </p:cNvPr>
          <p:cNvSpPr>
            <a:spLocks xmlns:a="http://schemas.openxmlformats.org/drawingml/2006/main" noGrp="1"/>
          </p:cNvSpPr>
          <p:nvPr/>
        </p:nvSpPr>
        <p:spPr>
          <a:xfrm xmlns:a="http://schemas.openxmlformats.org/drawingml/2006/main">
            <a:off x="609600" y="2381250"/>
            <a:ext cx="2400300" cy="952500"/>
          </a:xfrm>
          <a:prstGeom xmlns:a="http://schemas.openxmlformats.org/drawingml/2006/main" prst="rect">
            <a:avLst/>
          </a:prstGeom>
          <a:solidFill xmlns:a="http://schemas.openxmlformats.org/drawingml/2006/main">
            <a:srgbClr val="E8F1FA"/>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Upload API</a:t>
            </a:r>
          </a:p>
        </p:txBody>
      </p:sp>
      <p:sp>
        <p:nvSpPr>
          <p:cNvPr id="5" name="">
            <a:extLst xmlns:a="http://schemas.openxmlformats.org/drawingml/2006/main">
              <a:ext uri="{FF2B5EF4-FFF2-40B4-BE49-F238E27FC236}">
                <a16:creationId xmlns:a16="http://schemas.microsoft.com/office/drawing/2014/main" id="{2A92743E-A82F-4D30-ACCB-769A2AF9D92E}"/>
              </a:ext>
            </a:extLst>
          </p:cNvPr>
          <p:cNvSpPr>
            <a:spLocks xmlns:a="http://schemas.openxmlformats.org/drawingml/2006/main" noGrp="1"/>
          </p:cNvSpPr>
          <p:nvPr/>
        </p:nvSpPr>
        <p:spPr>
          <a:xfrm xmlns:a="http://schemas.openxmlformats.org/drawingml/2006/main">
            <a:off x="3467100" y="2381250"/>
            <a:ext cx="2400300" cy="952500"/>
          </a:xfrm>
          <a:prstGeom xmlns:a="http://schemas.openxmlformats.org/drawingml/2006/main" prst="rect">
            <a:avLst/>
          </a:prstGeom>
          <a:solidFill xmlns:a="http://schemas.openxmlformats.org/drawingml/2006/main">
            <a:srgbClr val="E7F4F1"/>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S3 source PDF</a:t>
            </a:r>
          </a:p>
        </p:txBody>
      </p:sp>
      <p:sp>
        <p:nvSpPr>
          <p:cNvPr id="6" name="">
            <a:extLst xmlns:a="http://schemas.openxmlformats.org/drawingml/2006/main">
              <a:ext uri="{FF2B5EF4-FFF2-40B4-BE49-F238E27FC236}">
                <a16:creationId xmlns:a16="http://schemas.microsoft.com/office/drawing/2014/main" id="{C5AB3926-B1A5-49A1-954E-20EF5C281447}"/>
              </a:ext>
            </a:extLst>
          </p:cNvPr>
          <p:cNvSpPr>
            <a:spLocks xmlns:a="http://schemas.openxmlformats.org/drawingml/2006/main" noGrp="1"/>
          </p:cNvSpPr>
          <p:nvPr/>
        </p:nvSpPr>
        <p:spPr>
          <a:xfrm xmlns:a="http://schemas.openxmlformats.org/drawingml/2006/main">
            <a:off x="6324600" y="2381250"/>
            <a:ext cx="2400300" cy="952500"/>
          </a:xfrm>
          <a:prstGeom xmlns:a="http://schemas.openxmlformats.org/drawingml/2006/main" prst="rect">
            <a:avLst/>
          </a:prstGeom>
          <a:solidFill xmlns:a="http://schemas.openxmlformats.org/drawingml/2006/main">
            <a:srgbClr val="E8F1FA"/>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SQS job</a:t>
            </a:r>
          </a:p>
        </p:txBody>
      </p:sp>
      <p:sp>
        <p:nvSpPr>
          <p:cNvPr id="7" name="">
            <a:extLst xmlns:a="http://schemas.openxmlformats.org/drawingml/2006/main">
              <a:ext uri="{FF2B5EF4-FFF2-40B4-BE49-F238E27FC236}">
                <a16:creationId xmlns:a16="http://schemas.microsoft.com/office/drawing/2014/main" id="{EBFE82C4-78BC-458E-A95D-BCE32FC7AA77}"/>
              </a:ext>
            </a:extLst>
          </p:cNvPr>
          <p:cNvSpPr>
            <a:spLocks xmlns:a="http://schemas.openxmlformats.org/drawingml/2006/main" noGrp="1"/>
          </p:cNvSpPr>
          <p:nvPr/>
        </p:nvSpPr>
        <p:spPr>
          <a:xfrm xmlns:a="http://schemas.openxmlformats.org/drawingml/2006/main">
            <a:off x="9182100" y="2381250"/>
            <a:ext cx="2400300" cy="952500"/>
          </a:xfrm>
          <a:prstGeom xmlns:a="http://schemas.openxmlformats.org/drawingml/2006/main" prst="rect">
            <a:avLst/>
          </a:prstGeom>
          <a:solidFill xmlns:a="http://schemas.openxmlformats.org/drawingml/2006/main">
            <a:srgbClr val="E7F4F1"/>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EKS worker</a:t>
            </a:r>
          </a:p>
        </p:txBody>
      </p:sp>
      <p:sp>
        <p:nvSpPr>
          <p:cNvPr id="11" name="">
            <a:extLst xmlns:a="http://schemas.openxmlformats.org/drawingml/2006/main">
              <a:ext uri="{FF2B5EF4-FFF2-40B4-BE49-F238E27FC236}">
                <a16:creationId xmlns:a16="http://schemas.microsoft.com/office/drawing/2014/main" id="{2A41DB98-161F-47DF-9941-9EE66105001A}"/>
              </a:ext>
            </a:extLst>
          </p:cNvPr>
          <p:cNvSpPr>
            <a:spLocks xmlns:a="http://schemas.openxmlformats.org/drawingml/2006/main" noGrp="1"/>
          </p:cNvSpPr>
          <p:nvPr/>
        </p:nvSpPr>
        <p:spPr>
          <a:xfrm xmlns:a="http://schemas.openxmlformats.org/drawingml/2006/main">
            <a:off x="666750" y="39052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9344D"/>
                </a:solidFill>
              </a:defRPr>
            </a:defPPr>
          </a:lstStyle>
          <a:p xmlns:a="http://schemas.openxmlformats.org/drawingml/2006/main">
            <a:pPr>
              <a:defRPr sz="2100" b="1">
                <a:solidFill>
                  <a:srgbClr val="19344D"/>
                </a:solidFill>
              </a:defRPr>
            </a:pPr>
            <a:r>
              <a:rPr sz="2100" b="1">
                <a:solidFill>
                  <a:srgbClr val="19344D"/>
                </a:solidFill>
              </a:rPr>
              <a:t>Worker output</a:t>
            </a:r>
          </a:p>
        </p:txBody>
      </p:sp>
      <p:sp>
        <p:nvSpPr>
          <p:cNvPr id="12" name="">
            <a:extLst xmlns:a="http://schemas.openxmlformats.org/drawingml/2006/main">
              <a:ext uri="{FF2B5EF4-FFF2-40B4-BE49-F238E27FC236}">
                <a16:creationId xmlns:a16="http://schemas.microsoft.com/office/drawing/2014/main" id="{E7767C8C-6198-4041-94FB-E758AC372C6F}"/>
              </a:ext>
            </a:extLst>
          </p:cNvPr>
          <p:cNvSpPr>
            <a:spLocks xmlns:a="http://schemas.openxmlformats.org/drawingml/2006/main" noGrp="1"/>
          </p:cNvSpPr>
          <p:nvPr/>
        </p:nvSpPr>
        <p:spPr>
          <a:xfrm xmlns:a="http://schemas.openxmlformats.org/drawingml/2006/main">
            <a:off x="3810000" y="3905250"/>
            <a:ext cx="752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344D"/>
                </a:solidFill>
              </a:defRPr>
            </a:defPPr>
          </a:lstStyle>
          <a:p xmlns:a="http://schemas.openxmlformats.org/drawingml/2006/main">
            <a:pPr>
              <a:defRPr sz="1950" b="0">
                <a:solidFill>
                  <a:srgbClr val="19344D"/>
                </a:solidFill>
              </a:defRPr>
            </a:pPr>
            <a:r>
              <a:rPr sz="1950" b="0">
                <a:solidFill>
                  <a:srgbClr val="19344D"/>
                </a:solidFill>
              </a:rPr>
              <a:t>Structured artifacts in S3 and job status in PostgreSQL</a:t>
            </a:r>
          </a:p>
        </p:txBody>
      </p:sp>
      <p:sp>
        <p:nvSpPr>
          <p:cNvPr id="13" name="">
            <a:extLst xmlns:a="http://schemas.openxmlformats.org/drawingml/2006/main">
              <a:ext uri="{FF2B5EF4-FFF2-40B4-BE49-F238E27FC236}">
                <a16:creationId xmlns:a16="http://schemas.microsoft.com/office/drawing/2014/main" id="{7B7B04C6-FCFE-402C-9499-622BB1C6B206}"/>
              </a:ext>
            </a:extLst>
          </p:cNvPr>
          <p:cNvSpPr>
            <a:spLocks xmlns:a="http://schemas.openxmlformats.org/drawingml/2006/main" noGrp="1"/>
          </p:cNvSpPr>
          <p:nvPr/>
        </p:nvSpPr>
        <p:spPr>
          <a:xfrm xmlns:a="http://schemas.openxmlformats.org/drawingml/2006/main">
            <a:off x="666750" y="51435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Failed jobs enter bounded retries and a dead-letter queue.</a:t>
            </a:r>
          </a:p>
        </p:txBody>
      </p:sp>
    </p:spTree>
    <p:extLst>
      <p:ext uri="{BB962C8B-B14F-4D97-AF65-F5344CB8AC3E}">
        <p14:creationId xmlns:p14="http://schemas.microsoft.com/office/powerpoint/2010/main" val="1608049334"/>
      </p:ext>
    </p:extLst>
  </p:cSld>
</p:sld>
</file>

<file path=ppt/slides/slide8.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D32FF220-07CE-4CC2-8F78-577020090258}"/>
              </a:ext>
            </a:extLst>
          </p:cNvPr>
          <p:cNvCxnSpPr>
            <a:stCxn xmlns:a="http://schemas.openxmlformats.org/drawingml/2006/main" id="10" idx="1"/>
            <a:endCxn xmlns:a="http://schemas.openxmlformats.org/drawingml/2006/main" id="9" idx="3"/>
          </p:cNvCxnSpPr>
          <p:nvPr/>
        </p:nvCxnSpPr>
        <p:spPr>
          <a:xfrm xmlns:a="http://schemas.openxmlformats.org/drawingml/2006/main" flipH="1">
            <a:off x="3048000" y="4895850"/>
            <a:ext cx="1047750" cy="0"/>
          </a:xfrm>
          <a:prstGeom xmlns:a="http://schemas.openxmlformats.org/drawingml/2006/main" prst="straightConnector1">
            <a:avLst/>
          </a:prstGeom>
          <a:ln xmlns:a="http://schemas.openxmlformats.org/drawingml/2006/main" w="19050">
            <a:solidFill>
              <a:srgbClr val="7794AC"/>
            </a:solidFill>
            <a:tailEnd type="arrow" w="med" len="med"/>
          </a:ln>
        </p:spPr>
      </p:cxnSp>
      <p:cxnSp>
        <p:nvCxnSpPr>
          <p:cNvPr id="13" name="">
            <a:extLst xmlns:a="http://schemas.openxmlformats.org/drawingml/2006/main">
              <a:ext uri="{FF2B5EF4-FFF2-40B4-BE49-F238E27FC236}">
                <a16:creationId xmlns:a16="http://schemas.microsoft.com/office/drawing/2014/main" id="{749A3C0E-8379-4BC8-9224-F056FDB34DFB}"/>
              </a:ext>
            </a:extLst>
          </p:cNvPr>
          <p:cNvCxnSpPr>
            <a:stCxn xmlns:a="http://schemas.openxmlformats.org/drawingml/2006/main" id="11" idx="1"/>
            <a:endCxn xmlns:a="http://schemas.openxmlformats.org/drawingml/2006/main" id="10" idx="3"/>
          </p:cNvCxnSpPr>
          <p:nvPr/>
        </p:nvCxnSpPr>
        <p:spPr>
          <a:xfrm xmlns:a="http://schemas.openxmlformats.org/drawingml/2006/main" flipH="1">
            <a:off x="6477000" y="4895850"/>
            <a:ext cx="1047750" cy="0"/>
          </a:xfrm>
          <a:prstGeom xmlns:a="http://schemas.openxmlformats.org/drawingml/2006/main" prst="straightConnector1">
            <a:avLst/>
          </a:prstGeom>
          <a:ln xmlns:a="http://schemas.openxmlformats.org/drawingml/2006/main" w="19050">
            <a:solidFill>
              <a:srgbClr val="7794AC"/>
            </a:solidFill>
            <a:tailEnd type="arrow" w="med" len="med"/>
          </a:ln>
        </p:spPr>
      </p:cxnSp>
      <p:cxnSp>
        <p:nvCxnSpPr>
          <p:cNvPr id="12" name="">
            <a:extLst xmlns:a="http://schemas.openxmlformats.org/drawingml/2006/main">
              <a:ext uri="{FF2B5EF4-FFF2-40B4-BE49-F238E27FC236}">
                <a16:creationId xmlns:a16="http://schemas.microsoft.com/office/drawing/2014/main" id="{62794B92-55FE-4114-B722-13D5353BA2D5}"/>
              </a:ext>
            </a:extLst>
          </p:cNvPr>
          <p:cNvCxnSpPr>
            <a:stCxn xmlns:a="http://schemas.openxmlformats.org/drawingml/2006/main" id="6" idx="2"/>
            <a:endCxn xmlns:a="http://schemas.openxmlformats.org/drawingml/2006/main" id="11" idx="0"/>
          </p:cNvCxnSpPr>
          <p:nvPr/>
        </p:nvCxnSpPr>
        <p:spPr>
          <a:xfrm xmlns:a="http://schemas.openxmlformats.org/drawingml/2006/main">
            <a:off x="8715375" y="3219450"/>
            <a:ext cx="0" cy="1257300"/>
          </a:xfrm>
          <a:prstGeom xmlns:a="http://schemas.openxmlformats.org/drawingml/2006/main" prst="straightConnector1">
            <a:avLst/>
          </a:prstGeom>
          <a:ln xmlns:a="http://schemas.openxmlformats.org/drawingml/2006/main" w="19050">
            <a:solidFill>
              <a:srgbClr val="7794AC"/>
            </a:solidFill>
            <a:tailEnd type="arrow" w="med" len="med"/>
          </a:ln>
        </p:spPr>
      </p:cxnSp>
      <p:cxnSp>
        <p:nvCxnSpPr>
          <p:cNvPr id="8" name="">
            <a:extLst xmlns:a="http://schemas.openxmlformats.org/drawingml/2006/main">
              <a:ext uri="{FF2B5EF4-FFF2-40B4-BE49-F238E27FC236}">
                <a16:creationId xmlns:a16="http://schemas.microsoft.com/office/drawing/2014/main" id="{84FD03B9-0F41-48E5-A028-B5ED7E1407ED}"/>
              </a:ext>
            </a:extLst>
          </p:cNvPr>
          <p:cNvCxnSpPr>
            <a:stCxn xmlns:a="http://schemas.openxmlformats.org/drawingml/2006/main" id="5" idx="3"/>
            <a:endCxn xmlns:a="http://schemas.openxmlformats.org/drawingml/2006/main" id="6" idx="1"/>
          </p:cNvCxnSpPr>
          <p:nvPr/>
        </p:nvCxnSpPr>
        <p:spPr>
          <a:xfrm xmlns:a="http://schemas.openxmlformats.org/drawingml/2006/main">
            <a:off x="6477000" y="2800350"/>
            <a:ext cx="1047750" cy="0"/>
          </a:xfrm>
          <a:prstGeom xmlns:a="http://schemas.openxmlformats.org/drawingml/2006/main" prst="straightConnector1">
            <a:avLst/>
          </a:prstGeom>
          <a:ln xmlns:a="http://schemas.openxmlformats.org/drawingml/2006/main" w="19050">
            <a:solidFill>
              <a:srgbClr val="7794AC"/>
            </a:solidFill>
            <a:tailEnd type="arrow" w="med" len="med"/>
          </a:ln>
        </p:spPr>
      </p:cxnSp>
      <p:cxnSp>
        <p:nvCxnSpPr>
          <p:cNvPr id="7" name="">
            <a:extLst xmlns:a="http://schemas.openxmlformats.org/drawingml/2006/main">
              <a:ext uri="{FF2B5EF4-FFF2-40B4-BE49-F238E27FC236}">
                <a16:creationId xmlns:a16="http://schemas.microsoft.com/office/drawing/2014/main" id="{45FF961D-97DE-4BE7-BF9B-5FA1D713C3E5}"/>
              </a:ext>
            </a:extLst>
          </p:cNvPr>
          <p:cNvCxnSpPr>
            <a:stCxn xmlns:a="http://schemas.openxmlformats.org/drawingml/2006/main" id="4" idx="3"/>
            <a:endCxn xmlns:a="http://schemas.openxmlformats.org/drawingml/2006/main" id="5" idx="1"/>
          </p:cNvCxnSpPr>
          <p:nvPr/>
        </p:nvCxnSpPr>
        <p:spPr>
          <a:xfrm xmlns:a="http://schemas.openxmlformats.org/drawingml/2006/main">
            <a:off x="3048000" y="2800350"/>
            <a:ext cx="1047750" cy="0"/>
          </a:xfrm>
          <a:prstGeom xmlns:a="http://schemas.openxmlformats.org/drawingml/2006/main" prst="straightConnector1">
            <a:avLst/>
          </a:prstGeom>
          <a:ln xmlns:a="http://schemas.openxmlformats.org/drawingml/2006/main" w="19050">
            <a:solidFill>
              <a:srgbClr val="7794AC"/>
            </a:solidFill>
            <a:tailEnd type="arrow" w="med" len="med"/>
          </a:ln>
        </p:spPr>
      </p:cxnSp>
      <p:sp>
        <p:nvSpPr>
          <p:cNvPr id="15" name="">
            <a:extLst xmlns:a="http://schemas.openxmlformats.org/drawingml/2006/main">
              <a:ext uri="{FF2B5EF4-FFF2-40B4-BE49-F238E27FC236}">
                <a16:creationId xmlns:a16="http://schemas.microsoft.com/office/drawing/2014/main" id="{AF40FDDF-59C1-4D42-8B74-99E6A16A83BE}"/>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9344D"/>
                </a:solidFill>
              </a:defRPr>
            </a:defPPr>
          </a:lstStyle>
          <a:p xmlns:a="http://schemas.openxmlformats.org/drawingml/2006/main">
            <a:pPr>
              <a:defRPr sz="3150" b="1">
                <a:solidFill>
                  <a:srgbClr val="19344D"/>
                </a:solidFill>
              </a:defRPr>
            </a:pPr>
            <a:r>
              <a:rPr sz="3150" b="1">
                <a:solidFill>
                  <a:srgbClr val="19344D"/>
                </a:solidFill>
              </a:rPr>
              <a:t>AWS Kubernetes architecture</a:t>
            </a:r>
          </a:p>
        </p:txBody>
      </p:sp>
      <p:sp>
        <p:nvSpPr>
          <p:cNvPr id="2" name="">
            <a:extLst xmlns:a="http://schemas.openxmlformats.org/drawingml/2006/main">
              <a:ext uri="{FF2B5EF4-FFF2-40B4-BE49-F238E27FC236}">
                <a16:creationId xmlns:a16="http://schemas.microsoft.com/office/drawing/2014/main" id="{B304B856-9699-46C0-B39B-F2DD3291731F}"/>
              </a:ext>
            </a:extLst>
          </p:cNvPr>
          <p:cNvSpPr>
            <a:spLocks xmlns:a="http://schemas.openxmlformats.org/drawingml/2006/main" noGrp="1"/>
          </p:cNvSpPr>
          <p:nvPr/>
        </p:nvSpPr>
        <p:spPr>
          <a:xfrm xmlns:a="http://schemas.openxmlformats.org/drawingml/2006/main">
            <a:off x="609600" y="1162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577"/>
                </a:solidFill>
              </a:defRPr>
            </a:defPPr>
          </a:lstStyle>
          <a:p xmlns:a="http://schemas.openxmlformats.org/drawingml/2006/main">
            <a:pPr>
              <a:defRPr sz="1800" b="0">
                <a:solidFill>
                  <a:srgbClr val="516577"/>
                </a:solidFill>
              </a:defRPr>
            </a:pPr>
            <a:r>
              <a:rPr sz="1800" b="0">
                <a:solidFill>
                  <a:srgbClr val="516577"/>
                </a:solidFill>
              </a:rPr>
              <a:t>Separate CPU orchestration from GPU inference capacity.</a:t>
            </a:r>
          </a:p>
        </p:txBody>
      </p:sp>
      <p:sp>
        <p:nvSpPr>
          <p:cNvPr id="3" name="">
            <a:extLst xmlns:a="http://schemas.openxmlformats.org/drawingml/2006/main">
              <a:ext uri="{FF2B5EF4-FFF2-40B4-BE49-F238E27FC236}">
                <a16:creationId xmlns:a16="http://schemas.microsoft.com/office/drawing/2014/main" id="{012EC1E8-71A7-4F76-BE29-C10DD1F51191}"/>
              </a:ext>
            </a:extLst>
          </p:cNvPr>
          <p:cNvSpPr>
            <a:spLocks xmlns:a="http://schemas.openxmlformats.org/drawingml/2006/main" noGrp="1"/>
          </p:cNvSpPr>
          <p:nvPr/>
        </p:nvSpPr>
        <p:spPr>
          <a:xfrm xmlns:a="http://schemas.openxmlformats.org/drawingml/2006/main">
            <a:off x="112776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577"/>
                </a:solidFill>
              </a:defRPr>
            </a:defPPr>
          </a:lstStyle>
          <a:p xmlns:a="http://schemas.openxmlformats.org/drawingml/2006/main">
            <a:pPr>
              <a:defRPr sz="1200" b="0">
                <a:solidFill>
                  <a:srgbClr val="516577"/>
                </a:solidFill>
              </a:defRPr>
            </a:pPr>
            <a:r>
              <a:rPr sz="1200" b="0">
                <a:solidFill>
                  <a:srgbClr val="516577"/>
                </a:solidFill>
              </a:rPr>
              <a:t>08</a:t>
            </a:r>
          </a:p>
        </p:txBody>
      </p:sp>
      <p:sp>
        <p:nvSpPr>
          <p:cNvPr id="4" name="">
            <a:extLst xmlns:a="http://schemas.openxmlformats.org/drawingml/2006/main">
              <a:ext uri="{FF2B5EF4-FFF2-40B4-BE49-F238E27FC236}">
                <a16:creationId xmlns:a16="http://schemas.microsoft.com/office/drawing/2014/main" id="{D1254E7A-28EB-4D22-8A17-BB6E4C8499AE}"/>
              </a:ext>
            </a:extLst>
          </p:cNvPr>
          <p:cNvSpPr>
            <a:spLocks xmlns:a="http://schemas.openxmlformats.org/drawingml/2006/main" noGrp="1"/>
          </p:cNvSpPr>
          <p:nvPr/>
        </p:nvSpPr>
        <p:spPr>
          <a:xfrm xmlns:a="http://schemas.openxmlformats.org/drawingml/2006/main">
            <a:off x="666750" y="2381250"/>
            <a:ext cx="2381250" cy="838200"/>
          </a:xfrm>
          <a:prstGeom xmlns:a="http://schemas.openxmlformats.org/drawingml/2006/main" prst="rect">
            <a:avLst/>
          </a:prstGeom>
          <a:solidFill xmlns:a="http://schemas.openxmlformats.org/drawingml/2006/main">
            <a:srgbClr val="E8F1FA"/>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FastAPI ingress</a:t>
            </a:r>
          </a:p>
        </p:txBody>
      </p:sp>
      <p:sp>
        <p:nvSpPr>
          <p:cNvPr id="5" name="">
            <a:extLst xmlns:a="http://schemas.openxmlformats.org/drawingml/2006/main">
              <a:ext uri="{FF2B5EF4-FFF2-40B4-BE49-F238E27FC236}">
                <a16:creationId xmlns:a16="http://schemas.microsoft.com/office/drawing/2014/main" id="{ED7F98F5-1087-4CEE-BA11-B969F80EE796}"/>
              </a:ext>
            </a:extLst>
          </p:cNvPr>
          <p:cNvSpPr>
            <a:spLocks xmlns:a="http://schemas.openxmlformats.org/drawingml/2006/main" noGrp="1"/>
          </p:cNvSpPr>
          <p:nvPr/>
        </p:nvSpPr>
        <p:spPr>
          <a:xfrm xmlns:a="http://schemas.openxmlformats.org/drawingml/2006/main">
            <a:off x="4095750" y="2381250"/>
            <a:ext cx="2381250" cy="838200"/>
          </a:xfrm>
          <a:prstGeom xmlns:a="http://schemas.openxmlformats.org/drawingml/2006/main" prst="rect">
            <a:avLst/>
          </a:prstGeom>
          <a:solidFill xmlns:a="http://schemas.openxmlformats.org/drawingml/2006/main">
            <a:srgbClr val="E8F1FA"/>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SQS queue</a:t>
            </a:r>
          </a:p>
        </p:txBody>
      </p:sp>
      <p:sp>
        <p:nvSpPr>
          <p:cNvPr id="6" name="">
            <a:extLst xmlns:a="http://schemas.openxmlformats.org/drawingml/2006/main">
              <a:ext uri="{FF2B5EF4-FFF2-40B4-BE49-F238E27FC236}">
                <a16:creationId xmlns:a16="http://schemas.microsoft.com/office/drawing/2014/main" id="{414BF87B-536E-4FE2-948B-80097F750B16}"/>
              </a:ext>
            </a:extLst>
          </p:cNvPr>
          <p:cNvSpPr>
            <a:spLocks xmlns:a="http://schemas.openxmlformats.org/drawingml/2006/main" noGrp="1"/>
          </p:cNvSpPr>
          <p:nvPr/>
        </p:nvSpPr>
        <p:spPr>
          <a:xfrm xmlns:a="http://schemas.openxmlformats.org/drawingml/2006/main">
            <a:off x="7524750" y="2381250"/>
            <a:ext cx="2381250" cy="838200"/>
          </a:xfrm>
          <a:prstGeom xmlns:a="http://schemas.openxmlformats.org/drawingml/2006/main" prst="rect">
            <a:avLst/>
          </a:prstGeom>
          <a:solidFill xmlns:a="http://schemas.openxmlformats.org/drawingml/2006/main">
            <a:srgbClr val="E8F1FA"/>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CPU workers</a:t>
            </a:r>
          </a:p>
        </p:txBody>
      </p:sp>
      <p:sp>
        <p:nvSpPr>
          <p:cNvPr id="9" name="">
            <a:extLst xmlns:a="http://schemas.openxmlformats.org/drawingml/2006/main">
              <a:ext uri="{FF2B5EF4-FFF2-40B4-BE49-F238E27FC236}">
                <a16:creationId xmlns:a16="http://schemas.microsoft.com/office/drawing/2014/main" id="{B5DE24CB-297F-417B-880E-E770F911FC59}"/>
              </a:ext>
            </a:extLst>
          </p:cNvPr>
          <p:cNvSpPr>
            <a:spLocks xmlns:a="http://schemas.openxmlformats.org/drawingml/2006/main" noGrp="1"/>
          </p:cNvSpPr>
          <p:nvPr/>
        </p:nvSpPr>
        <p:spPr>
          <a:xfrm xmlns:a="http://schemas.openxmlformats.org/drawingml/2006/main">
            <a:off x="666750" y="4476750"/>
            <a:ext cx="2381250" cy="838200"/>
          </a:xfrm>
          <a:prstGeom xmlns:a="http://schemas.openxmlformats.org/drawingml/2006/main" prst="rect">
            <a:avLst/>
          </a:prstGeom>
          <a:solidFill xmlns:a="http://schemas.openxmlformats.org/drawingml/2006/main">
            <a:srgbClr val="E7F4F1"/>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S3 artifacts</a:t>
            </a:r>
          </a:p>
        </p:txBody>
      </p:sp>
      <p:sp>
        <p:nvSpPr>
          <p:cNvPr id="10" name="">
            <a:extLst xmlns:a="http://schemas.openxmlformats.org/drawingml/2006/main">
              <a:ext uri="{FF2B5EF4-FFF2-40B4-BE49-F238E27FC236}">
                <a16:creationId xmlns:a16="http://schemas.microsoft.com/office/drawing/2014/main" id="{47F4AB0A-77B3-4ABC-9B61-07E63D0B9806}"/>
              </a:ext>
            </a:extLst>
          </p:cNvPr>
          <p:cNvSpPr>
            <a:spLocks xmlns:a="http://schemas.openxmlformats.org/drawingml/2006/main" noGrp="1"/>
          </p:cNvSpPr>
          <p:nvPr/>
        </p:nvSpPr>
        <p:spPr>
          <a:xfrm xmlns:a="http://schemas.openxmlformats.org/drawingml/2006/main">
            <a:off x="4095750" y="4476750"/>
            <a:ext cx="2381250" cy="838200"/>
          </a:xfrm>
          <a:prstGeom xmlns:a="http://schemas.openxmlformats.org/drawingml/2006/main" prst="rect">
            <a:avLst/>
          </a:prstGeom>
          <a:solidFill xmlns:a="http://schemas.openxmlformats.org/drawingml/2006/main">
            <a:srgbClr val="E7F4F1"/>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PostgreSQL</a:t>
            </a:r>
          </a:p>
          <a:p xmlns:a="http://schemas.openxmlformats.org/drawingml/2006/main">
            <a:pPr algn="ctr">
              <a:defRPr sz="1875" b="1">
                <a:solidFill>
                  <a:srgbClr val="19344D"/>
                </a:solidFill>
              </a:defRPr>
            </a:pPr>
            <a:r>
              <a:rPr sz="1875" b="1">
                <a:solidFill>
                  <a:srgbClr val="19344D"/>
                </a:solidFill>
              </a:rPr>
              <a:t>job state</a:t>
            </a:r>
          </a:p>
        </p:txBody>
      </p:sp>
      <p:sp>
        <p:nvSpPr>
          <p:cNvPr id="11" name="">
            <a:extLst xmlns:a="http://schemas.openxmlformats.org/drawingml/2006/main">
              <a:ext uri="{FF2B5EF4-FFF2-40B4-BE49-F238E27FC236}">
                <a16:creationId xmlns:a16="http://schemas.microsoft.com/office/drawing/2014/main" id="{71DC304C-71EE-48E5-AA2B-9E14D57AE0FA}"/>
              </a:ext>
            </a:extLst>
          </p:cNvPr>
          <p:cNvSpPr>
            <a:spLocks xmlns:a="http://schemas.openxmlformats.org/drawingml/2006/main" noGrp="1"/>
          </p:cNvSpPr>
          <p:nvPr/>
        </p:nvSpPr>
        <p:spPr>
          <a:xfrm xmlns:a="http://schemas.openxmlformats.org/drawingml/2006/main">
            <a:off x="7524750" y="4476750"/>
            <a:ext cx="2381250" cy="838200"/>
          </a:xfrm>
          <a:prstGeom xmlns:a="http://schemas.openxmlformats.org/drawingml/2006/main" prst="rect">
            <a:avLst/>
          </a:prstGeom>
          <a:solidFill xmlns:a="http://schemas.openxmlformats.org/drawingml/2006/main">
            <a:srgbClr val="E7F4F1"/>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MinerU service</a:t>
            </a:r>
          </a:p>
          <a:p xmlns:a="http://schemas.openxmlformats.org/drawingml/2006/main">
            <a:pPr algn="ctr">
              <a:defRPr sz="1875" b="1">
                <a:solidFill>
                  <a:srgbClr val="19344D"/>
                </a:solidFill>
              </a:defRPr>
            </a:pPr>
            <a:r>
              <a:rPr sz="1875" b="1">
                <a:solidFill>
                  <a:srgbClr val="19344D"/>
                </a:solidFill>
              </a:rPr>
              <a:t>GPU node pool</a:t>
            </a:r>
          </a:p>
        </p:txBody>
      </p:sp>
    </p:spTree>
    <p:extLst>
      <p:ext uri="{BB962C8B-B14F-4D97-AF65-F5344CB8AC3E}">
        <p14:creationId xmlns:p14="http://schemas.microsoft.com/office/powerpoint/2010/main" val="1664536274"/>
      </p:ext>
    </p:extLst>
  </p:cSld>
</p:sld>
</file>

<file path=ppt/slides/slide9.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9C2C8C3-13C2-4597-AA31-61399B18B1B6}"/>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9344D"/>
                </a:solidFill>
              </a:defRPr>
            </a:defPPr>
          </a:lstStyle>
          <a:p xmlns:a="http://schemas.openxmlformats.org/drawingml/2006/main">
            <a:pPr>
              <a:defRPr sz="3150" b="1">
                <a:solidFill>
                  <a:srgbClr val="19344D"/>
                </a:solidFill>
              </a:defRPr>
            </a:pPr>
            <a:r>
              <a:rPr sz="3150" b="1">
                <a:solidFill>
                  <a:srgbClr val="19344D"/>
                </a:solidFill>
              </a:rPr>
              <a:t>Installation and container procedure</a:t>
            </a:r>
          </a:p>
        </p:txBody>
      </p:sp>
      <p:sp>
        <p:nvSpPr>
          <p:cNvPr id="2" name="">
            <a:extLst xmlns:a="http://schemas.openxmlformats.org/drawingml/2006/main">
              <a:ext uri="{FF2B5EF4-FFF2-40B4-BE49-F238E27FC236}">
                <a16:creationId xmlns:a16="http://schemas.microsoft.com/office/drawing/2014/main" id="{F74A47A5-C59E-4766-B3DC-4C7A8C14AAD6}"/>
              </a:ext>
            </a:extLst>
          </p:cNvPr>
          <p:cNvSpPr>
            <a:spLocks xmlns:a="http://schemas.openxmlformats.org/drawingml/2006/main" noGrp="1"/>
          </p:cNvSpPr>
          <p:nvPr/>
        </p:nvSpPr>
        <p:spPr>
          <a:xfrm xmlns:a="http://schemas.openxmlformats.org/drawingml/2006/main">
            <a:off x="609600" y="1162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577"/>
                </a:solidFill>
              </a:defRPr>
            </a:defPPr>
          </a:lstStyle>
          <a:p xmlns:a="http://schemas.openxmlformats.org/drawingml/2006/main">
            <a:pPr>
              <a:defRPr sz="1800" b="0">
                <a:solidFill>
                  <a:srgbClr val="516577"/>
                </a:solidFill>
              </a:defRPr>
            </a:pPr>
            <a:r>
              <a:rPr sz="1800" b="0">
                <a:solidFill>
                  <a:srgbClr val="516577"/>
                </a:solidFill>
              </a:rPr>
              <a:t>A reproducible image includes a verified runtime and prepared models.</a:t>
            </a:r>
          </a:p>
        </p:txBody>
      </p:sp>
      <p:sp>
        <p:nvSpPr>
          <p:cNvPr id="3" name="">
            <a:extLst xmlns:a="http://schemas.openxmlformats.org/drawingml/2006/main">
              <a:ext uri="{FF2B5EF4-FFF2-40B4-BE49-F238E27FC236}">
                <a16:creationId xmlns:a16="http://schemas.microsoft.com/office/drawing/2014/main" id="{4C2B8B7C-D6DA-4145-AE23-9053D992F9D4}"/>
              </a:ext>
            </a:extLst>
          </p:cNvPr>
          <p:cNvSpPr>
            <a:spLocks xmlns:a="http://schemas.openxmlformats.org/drawingml/2006/main" noGrp="1"/>
          </p:cNvSpPr>
          <p:nvPr/>
        </p:nvSpPr>
        <p:spPr>
          <a:xfrm xmlns:a="http://schemas.openxmlformats.org/drawingml/2006/main">
            <a:off x="112776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577"/>
                </a:solidFill>
              </a:defRPr>
            </a:defPPr>
          </a:lstStyle>
          <a:p xmlns:a="http://schemas.openxmlformats.org/drawingml/2006/main">
            <a:pPr>
              <a:defRPr sz="1200" b="0">
                <a:solidFill>
                  <a:srgbClr val="516577"/>
                </a:solidFill>
              </a:defRPr>
            </a:pPr>
            <a:r>
              <a:rPr sz="1200" b="0">
                <a:solidFill>
                  <a:srgbClr val="516577"/>
                </a:solidFill>
              </a:rPr>
              <a:t>09</a:t>
            </a:r>
          </a:p>
        </p:txBody>
      </p:sp>
      <p:sp>
        <p:nvSpPr>
          <p:cNvPr id="4" name="">
            <a:extLst xmlns:a="http://schemas.openxmlformats.org/drawingml/2006/main">
              <a:ext uri="{FF2B5EF4-FFF2-40B4-BE49-F238E27FC236}">
                <a16:creationId xmlns:a16="http://schemas.microsoft.com/office/drawing/2014/main" id="{5D67B0C6-8551-461B-B6EF-9631FCA59C35}"/>
              </a:ext>
            </a:extLst>
          </p:cNvPr>
          <p:cNvSpPr>
            <a:spLocks xmlns:a="http://schemas.openxmlformats.org/drawingml/2006/main" noGrp="1"/>
          </p:cNvSpPr>
          <p:nvPr/>
        </p:nvSpPr>
        <p:spPr>
          <a:xfrm xmlns:a="http://schemas.openxmlformats.org/drawingml/2006/main">
            <a:off x="666750" y="20955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01  Select release</a:t>
            </a:r>
          </a:p>
        </p:txBody>
      </p:sp>
      <p:sp>
        <p:nvSpPr>
          <p:cNvPr id="5" name="">
            <a:extLst xmlns:a="http://schemas.openxmlformats.org/drawingml/2006/main">
              <a:ext uri="{FF2B5EF4-FFF2-40B4-BE49-F238E27FC236}">
                <a16:creationId xmlns:a16="http://schemas.microsoft.com/office/drawing/2014/main" id="{15172316-F3EB-4EFC-A678-393D980C70AE}"/>
              </a:ext>
            </a:extLst>
          </p:cNvPr>
          <p:cNvSpPr>
            <a:spLocks xmlns:a="http://schemas.openxmlformats.org/drawingml/2006/main" noGrp="1"/>
          </p:cNvSpPr>
          <p:nvPr/>
        </p:nvSpPr>
        <p:spPr>
          <a:xfrm xmlns:a="http://schemas.openxmlformats.org/drawingml/2006/main">
            <a:off x="3810000" y="20955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Choose an exact tested 4.x version and matching source revision.</a:t>
            </a:r>
          </a:p>
        </p:txBody>
      </p:sp>
      <p:sp>
        <p:nvSpPr>
          <p:cNvPr id="6" name="">
            <a:extLst xmlns:a="http://schemas.openxmlformats.org/drawingml/2006/main">
              <a:ext uri="{FF2B5EF4-FFF2-40B4-BE49-F238E27FC236}">
                <a16:creationId xmlns:a16="http://schemas.microsoft.com/office/drawing/2014/main" id="{9F6FC02A-9796-416C-BFC7-D2AC57C466E3}"/>
              </a:ext>
            </a:extLst>
          </p:cNvPr>
          <p:cNvSpPr>
            <a:spLocks xmlns:a="http://schemas.openxmlformats.org/drawingml/2006/main" noGrp="1"/>
          </p:cNvSpPr>
          <p:nvPr/>
        </p:nvSpPr>
        <p:spPr>
          <a:xfrm xmlns:a="http://schemas.openxmlformats.org/drawingml/2006/main">
            <a:off x="666750" y="29908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02  Build image</a:t>
            </a:r>
          </a:p>
        </p:txBody>
      </p:sp>
      <p:sp>
        <p:nvSpPr>
          <p:cNvPr id="7" name="">
            <a:extLst xmlns:a="http://schemas.openxmlformats.org/drawingml/2006/main">
              <a:ext uri="{FF2B5EF4-FFF2-40B4-BE49-F238E27FC236}">
                <a16:creationId xmlns:a16="http://schemas.microsoft.com/office/drawing/2014/main" id="{FDDEF2C9-3553-4CB7-B5E7-16D49F8D4EB9}"/>
              </a:ext>
            </a:extLst>
          </p:cNvPr>
          <p:cNvSpPr>
            <a:spLocks xmlns:a="http://schemas.openxmlformats.org/drawingml/2006/main" noGrp="1"/>
          </p:cNvSpPr>
          <p:nvPr/>
        </p:nvSpPr>
        <p:spPr>
          <a:xfrm xmlns:a="http://schemas.openxmlformats.org/drawingml/2006/main">
            <a:off x="3810000" y="29908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Adapt the official NVIDIA Dockerfile and pin dependencies.</a:t>
            </a:r>
          </a:p>
        </p:txBody>
      </p:sp>
      <p:sp>
        <p:nvSpPr>
          <p:cNvPr id="8" name="">
            <a:extLst xmlns:a="http://schemas.openxmlformats.org/drawingml/2006/main">
              <a:ext uri="{FF2B5EF4-FFF2-40B4-BE49-F238E27FC236}">
                <a16:creationId xmlns:a16="http://schemas.microsoft.com/office/drawing/2014/main" id="{2E7B4E15-AC33-405D-9954-413B0C80D4A6}"/>
              </a:ext>
            </a:extLst>
          </p:cNvPr>
          <p:cNvSpPr>
            <a:spLocks xmlns:a="http://schemas.openxmlformats.org/drawingml/2006/main" noGrp="1"/>
          </p:cNvSpPr>
          <p:nvPr/>
        </p:nvSpPr>
        <p:spPr>
          <a:xfrm xmlns:a="http://schemas.openxmlformats.org/drawingml/2006/main">
            <a:off x="666750" y="38862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03  Verify locally</a:t>
            </a:r>
          </a:p>
        </p:txBody>
      </p:sp>
      <p:sp>
        <p:nvSpPr>
          <p:cNvPr id="9" name="">
            <a:extLst xmlns:a="http://schemas.openxmlformats.org/drawingml/2006/main">
              <a:ext uri="{FF2B5EF4-FFF2-40B4-BE49-F238E27FC236}">
                <a16:creationId xmlns:a16="http://schemas.microsoft.com/office/drawing/2014/main" id="{F91004EE-1810-46F8-BDDD-603ECBC079D3}"/>
              </a:ext>
            </a:extLst>
          </p:cNvPr>
          <p:cNvSpPr>
            <a:spLocks xmlns:a="http://schemas.openxmlformats.org/drawingml/2006/main" noGrp="1"/>
          </p:cNvSpPr>
          <p:nvPr/>
        </p:nvSpPr>
        <p:spPr>
          <a:xfrm xmlns:a="http://schemas.openxmlformats.org/drawingml/2006/main">
            <a:off x="3810000" y="38862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Confirm package version, model files and a real PDF parse.</a:t>
            </a:r>
          </a:p>
        </p:txBody>
      </p:sp>
      <p:sp>
        <p:nvSpPr>
          <p:cNvPr id="10" name="">
            <a:extLst xmlns:a="http://schemas.openxmlformats.org/drawingml/2006/main">
              <a:ext uri="{FF2B5EF4-FFF2-40B4-BE49-F238E27FC236}">
                <a16:creationId xmlns:a16="http://schemas.microsoft.com/office/drawing/2014/main" id="{CDFEFC4E-D4C1-4987-B3A5-D8352B5D5C9B}"/>
              </a:ext>
            </a:extLst>
          </p:cNvPr>
          <p:cNvSpPr>
            <a:spLocks xmlns:a="http://schemas.openxmlformats.org/drawingml/2006/main" noGrp="1"/>
          </p:cNvSpPr>
          <p:nvPr/>
        </p:nvSpPr>
        <p:spPr>
          <a:xfrm xmlns:a="http://schemas.openxmlformats.org/drawingml/2006/main">
            <a:off x="666750" y="47815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04  Publish artifact</a:t>
            </a:r>
          </a:p>
        </p:txBody>
      </p:sp>
      <p:sp>
        <p:nvSpPr>
          <p:cNvPr id="11" name="">
            <a:extLst xmlns:a="http://schemas.openxmlformats.org/drawingml/2006/main">
              <a:ext uri="{FF2B5EF4-FFF2-40B4-BE49-F238E27FC236}">
                <a16:creationId xmlns:a16="http://schemas.microsoft.com/office/drawing/2014/main" id="{3B80BB7B-2503-46AE-81FB-96C0EA3A9EEE}"/>
              </a:ext>
            </a:extLst>
          </p:cNvPr>
          <p:cNvSpPr>
            <a:spLocks xmlns:a="http://schemas.openxmlformats.org/drawingml/2006/main" noGrp="1"/>
          </p:cNvSpPr>
          <p:nvPr/>
        </p:nvSpPr>
        <p:spPr>
          <a:xfrm xmlns:a="http://schemas.openxmlformats.org/drawingml/2006/main">
            <a:off x="3810000" y="47815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Scan the image, push to ECR and retain its immutable digest.</a:t>
            </a:r>
          </a:p>
        </p:txBody>
      </p:sp>
    </p:spTree>
    <p:extLst>
      <p:ext uri="{BB962C8B-B14F-4D97-AF65-F5344CB8AC3E}">
        <p14:creationId xmlns:p14="http://schemas.microsoft.com/office/powerpoint/2010/main" val="1869536422"/>
      </p:ext>
    </p:extLst>
  </p:cSld>
</p:sld>
</file>

<file path=ppt/slides/slide10.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9D1F5C2-1782-4FA2-943A-F577EEB8E888}"/>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9344D"/>
                </a:solidFill>
              </a:defRPr>
            </a:defPPr>
          </a:lstStyle>
          <a:p xmlns:a="http://schemas.openxmlformats.org/drawingml/2006/main">
            <a:pPr>
              <a:defRPr sz="3150" b="1">
                <a:solidFill>
                  <a:srgbClr val="19344D"/>
                </a:solidFill>
              </a:defRPr>
            </a:pPr>
            <a:r>
              <a:rPr sz="3150" b="1">
                <a:solidFill>
                  <a:srgbClr val="19344D"/>
                </a:solidFill>
              </a:rPr>
              <a:t>EKS deployment procedure</a:t>
            </a:r>
          </a:p>
        </p:txBody>
      </p:sp>
      <p:sp>
        <p:nvSpPr>
          <p:cNvPr id="2" name="">
            <a:extLst xmlns:a="http://schemas.openxmlformats.org/drawingml/2006/main">
              <a:ext uri="{FF2B5EF4-FFF2-40B4-BE49-F238E27FC236}">
                <a16:creationId xmlns:a16="http://schemas.microsoft.com/office/drawing/2014/main" id="{2AC4E04D-72C7-4D4D-B3D3-A5C949AE42A9}"/>
              </a:ext>
            </a:extLst>
          </p:cNvPr>
          <p:cNvSpPr>
            <a:spLocks xmlns:a="http://schemas.openxmlformats.org/drawingml/2006/main" noGrp="1"/>
          </p:cNvSpPr>
          <p:nvPr/>
        </p:nvSpPr>
        <p:spPr>
          <a:xfrm xmlns:a="http://schemas.openxmlformats.org/drawingml/2006/main">
            <a:off x="609600" y="1162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577"/>
                </a:solidFill>
              </a:defRPr>
            </a:defPPr>
          </a:lstStyle>
          <a:p xmlns:a="http://schemas.openxmlformats.org/drawingml/2006/main">
            <a:pPr>
              <a:defRPr sz="1800" b="0">
                <a:solidFill>
                  <a:srgbClr val="516577"/>
                </a:solidFill>
              </a:defRPr>
            </a:pPr>
            <a:r>
              <a:rPr sz="1800" b="0">
                <a:solidFill>
                  <a:srgbClr val="516577"/>
                </a:solidFill>
              </a:rPr>
              <a:t>Kubernetes configuration must account for model startup and GPU memory.</a:t>
            </a:r>
          </a:p>
        </p:txBody>
      </p:sp>
      <p:sp>
        <p:nvSpPr>
          <p:cNvPr id="3" name="">
            <a:extLst xmlns:a="http://schemas.openxmlformats.org/drawingml/2006/main">
              <a:ext uri="{FF2B5EF4-FFF2-40B4-BE49-F238E27FC236}">
                <a16:creationId xmlns:a16="http://schemas.microsoft.com/office/drawing/2014/main" id="{DF806D2D-A772-42F6-95B0-68D40E1DDE62}"/>
              </a:ext>
            </a:extLst>
          </p:cNvPr>
          <p:cNvSpPr>
            <a:spLocks xmlns:a="http://schemas.openxmlformats.org/drawingml/2006/main" noGrp="1"/>
          </p:cNvSpPr>
          <p:nvPr/>
        </p:nvSpPr>
        <p:spPr>
          <a:xfrm xmlns:a="http://schemas.openxmlformats.org/drawingml/2006/main">
            <a:off x="112776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577"/>
                </a:solidFill>
              </a:defRPr>
            </a:defPPr>
          </a:lstStyle>
          <a:p xmlns:a="http://schemas.openxmlformats.org/drawingml/2006/main">
            <a:pPr>
              <a:defRPr sz="1200" b="0">
                <a:solidFill>
                  <a:srgbClr val="516577"/>
                </a:solidFill>
              </a:defRPr>
            </a:pPr>
            <a:r>
              <a:rPr sz="1200" b="0">
                <a:solidFill>
                  <a:srgbClr val="516577"/>
                </a:solidFill>
              </a:rPr>
              <a:t>10</a:t>
            </a:r>
          </a:p>
        </p:txBody>
      </p:sp>
      <p:sp>
        <p:nvSpPr>
          <p:cNvPr id="4" name="">
            <a:extLst xmlns:a="http://schemas.openxmlformats.org/drawingml/2006/main">
              <a:ext uri="{FF2B5EF4-FFF2-40B4-BE49-F238E27FC236}">
                <a16:creationId xmlns:a16="http://schemas.microsoft.com/office/drawing/2014/main" id="{B8BB0936-B72B-4DB7-9C72-7E1604FEE054}"/>
              </a:ext>
            </a:extLst>
          </p:cNvPr>
          <p:cNvSpPr>
            <a:spLocks xmlns:a="http://schemas.openxmlformats.org/drawingml/2006/main" noGrp="1"/>
          </p:cNvSpPr>
          <p:nvPr/>
        </p:nvSpPr>
        <p:spPr>
          <a:xfrm xmlns:a="http://schemas.openxmlformats.org/drawingml/2006/main">
            <a:off x="666750" y="20955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01  Prepare nodes</a:t>
            </a:r>
          </a:p>
        </p:txBody>
      </p:sp>
      <p:sp>
        <p:nvSpPr>
          <p:cNvPr id="5" name="">
            <a:extLst xmlns:a="http://schemas.openxmlformats.org/drawingml/2006/main">
              <a:ext uri="{FF2B5EF4-FFF2-40B4-BE49-F238E27FC236}">
                <a16:creationId xmlns:a16="http://schemas.microsoft.com/office/drawing/2014/main" id="{E44C6B5D-D7F9-48AE-8AC8-6594B58F6E15}"/>
              </a:ext>
            </a:extLst>
          </p:cNvPr>
          <p:cNvSpPr>
            <a:spLocks xmlns:a="http://schemas.openxmlformats.org/drawingml/2006/main" noGrp="1"/>
          </p:cNvSpPr>
          <p:nvPr/>
        </p:nvSpPr>
        <p:spPr>
          <a:xfrm xmlns:a="http://schemas.openxmlformats.org/drawingml/2006/main">
            <a:off x="3810000" y="20955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Provision a GPU node pool and verify allocatable GPU resources.</a:t>
            </a:r>
          </a:p>
        </p:txBody>
      </p:sp>
      <p:sp>
        <p:nvSpPr>
          <p:cNvPr id="6" name="">
            <a:extLst xmlns:a="http://schemas.openxmlformats.org/drawingml/2006/main">
              <a:ext uri="{FF2B5EF4-FFF2-40B4-BE49-F238E27FC236}">
                <a16:creationId xmlns:a16="http://schemas.microsoft.com/office/drawing/2014/main" id="{DF94BC11-19A4-480B-8201-87A6DCC69861}"/>
              </a:ext>
            </a:extLst>
          </p:cNvPr>
          <p:cNvSpPr>
            <a:spLocks xmlns:a="http://schemas.openxmlformats.org/drawingml/2006/main" noGrp="1"/>
          </p:cNvSpPr>
          <p:nvPr/>
        </p:nvSpPr>
        <p:spPr>
          <a:xfrm xmlns:a="http://schemas.openxmlformats.org/drawingml/2006/main">
            <a:off x="666750" y="29908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02  Deploy service</a:t>
            </a:r>
          </a:p>
        </p:txBody>
      </p:sp>
      <p:sp>
        <p:nvSpPr>
          <p:cNvPr id="7" name="">
            <a:extLst xmlns:a="http://schemas.openxmlformats.org/drawingml/2006/main">
              <a:ext uri="{FF2B5EF4-FFF2-40B4-BE49-F238E27FC236}">
                <a16:creationId xmlns:a16="http://schemas.microsoft.com/office/drawing/2014/main" id="{67E93E54-9208-4E90-BFD6-8DFBA89E27F7}"/>
              </a:ext>
            </a:extLst>
          </p:cNvPr>
          <p:cNvSpPr>
            <a:spLocks xmlns:a="http://schemas.openxmlformats.org/drawingml/2006/main" noGrp="1"/>
          </p:cNvSpPr>
          <p:nvPr/>
        </p:nvSpPr>
        <p:spPr>
          <a:xfrm xmlns:a="http://schemas.openxmlformats.org/drawingml/2006/main">
            <a:off x="3810000" y="29908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Set GPU limits, node selection, memory and shared-memory mounts.</a:t>
            </a:r>
          </a:p>
        </p:txBody>
      </p:sp>
      <p:sp>
        <p:nvSpPr>
          <p:cNvPr id="8" name="">
            <a:extLst xmlns:a="http://schemas.openxmlformats.org/drawingml/2006/main">
              <a:ext uri="{FF2B5EF4-FFF2-40B4-BE49-F238E27FC236}">
                <a16:creationId xmlns:a16="http://schemas.microsoft.com/office/drawing/2014/main" id="{C8FCBABC-67E7-44DE-B262-FD2F377C833F}"/>
              </a:ext>
            </a:extLst>
          </p:cNvPr>
          <p:cNvSpPr>
            <a:spLocks xmlns:a="http://schemas.openxmlformats.org/drawingml/2006/main" noGrp="1"/>
          </p:cNvSpPr>
          <p:nvPr/>
        </p:nvSpPr>
        <p:spPr>
          <a:xfrm xmlns:a="http://schemas.openxmlformats.org/drawingml/2006/main">
            <a:off x="666750" y="38862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03  Control traffic</a:t>
            </a:r>
          </a:p>
        </p:txBody>
      </p:sp>
      <p:sp>
        <p:nvSpPr>
          <p:cNvPr id="9" name="">
            <a:extLst xmlns:a="http://schemas.openxmlformats.org/drawingml/2006/main">
              <a:ext uri="{FF2B5EF4-FFF2-40B4-BE49-F238E27FC236}">
                <a16:creationId xmlns:a16="http://schemas.microsoft.com/office/drawing/2014/main" id="{94F528D8-63A8-4A61-A9FB-6F8477ACAA80}"/>
              </a:ext>
            </a:extLst>
          </p:cNvPr>
          <p:cNvSpPr>
            <a:spLocks xmlns:a="http://schemas.openxmlformats.org/drawingml/2006/main" noGrp="1"/>
          </p:cNvSpPr>
          <p:nvPr/>
        </p:nvSpPr>
        <p:spPr>
          <a:xfrm xmlns:a="http://schemas.openxmlformats.org/drawingml/2006/main">
            <a:off x="3810000" y="38862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Use an internal Service and restrict access to trusted workers.</a:t>
            </a:r>
          </a:p>
        </p:txBody>
      </p:sp>
      <p:sp>
        <p:nvSpPr>
          <p:cNvPr id="10" name="">
            <a:extLst xmlns:a="http://schemas.openxmlformats.org/drawingml/2006/main">
              <a:ext uri="{FF2B5EF4-FFF2-40B4-BE49-F238E27FC236}">
                <a16:creationId xmlns:a16="http://schemas.microsoft.com/office/drawing/2014/main" id="{9BDC7251-24D9-4DBD-BCB2-CBD20B932E99}"/>
              </a:ext>
            </a:extLst>
          </p:cNvPr>
          <p:cNvSpPr>
            <a:spLocks xmlns:a="http://schemas.openxmlformats.org/drawingml/2006/main" noGrp="1"/>
          </p:cNvSpPr>
          <p:nvPr/>
        </p:nvSpPr>
        <p:spPr>
          <a:xfrm xmlns:a="http://schemas.openxmlformats.org/drawingml/2006/main">
            <a:off x="666750" y="47815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04  Verify readiness</a:t>
            </a:r>
          </a:p>
        </p:txBody>
      </p:sp>
      <p:sp>
        <p:nvSpPr>
          <p:cNvPr id="11" name="">
            <a:extLst xmlns:a="http://schemas.openxmlformats.org/drawingml/2006/main">
              <a:ext uri="{FF2B5EF4-FFF2-40B4-BE49-F238E27FC236}">
                <a16:creationId xmlns:a16="http://schemas.microsoft.com/office/drawing/2014/main" id="{08CEFF80-9BAC-4277-9D45-363136DB68BF}"/>
              </a:ext>
            </a:extLst>
          </p:cNvPr>
          <p:cNvSpPr>
            <a:spLocks xmlns:a="http://schemas.openxmlformats.org/drawingml/2006/main" noGrp="1"/>
          </p:cNvSpPr>
          <p:nvPr/>
        </p:nvSpPr>
        <p:spPr>
          <a:xfrm xmlns:a="http://schemas.openxmlformats.org/drawingml/2006/main">
            <a:off x="3810000" y="47815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Allow model warm-up and test parsing before routing new jobs.</a:t>
            </a:r>
          </a:p>
        </p:txBody>
      </p:sp>
    </p:spTree>
    <p:extLst>
      <p:ext uri="{BB962C8B-B14F-4D97-AF65-F5344CB8AC3E}">
        <p14:creationId xmlns:p14="http://schemas.microsoft.com/office/powerpoint/2010/main" val="1952541679"/>
      </p:ext>
    </p:extLst>
  </p:cSld>
</p:sld>
</file>

<file path=ppt/slides/slide11.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487B8E-248E-48FA-AB97-9B11903AA1A9}"/>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9344D"/>
                </a:solidFill>
              </a:defRPr>
            </a:defPPr>
          </a:lstStyle>
          <a:p xmlns:a="http://schemas.openxmlformats.org/drawingml/2006/main">
            <a:pPr>
              <a:defRPr sz="3150" b="1">
                <a:solidFill>
                  <a:srgbClr val="19344D"/>
                </a:solidFill>
              </a:defRPr>
            </a:pPr>
            <a:r>
              <a:rPr sz="3150" b="1">
                <a:solidFill>
                  <a:srgbClr val="19344D"/>
                </a:solidFill>
              </a:rPr>
              <a:t>MinerU 4.x command reference</a:t>
            </a:r>
          </a:p>
        </p:txBody>
      </p:sp>
      <p:sp>
        <p:nvSpPr>
          <p:cNvPr id="2" name="">
            <a:extLst xmlns:a="http://schemas.openxmlformats.org/drawingml/2006/main">
              <a:ext uri="{FF2B5EF4-FFF2-40B4-BE49-F238E27FC236}">
                <a16:creationId xmlns:a16="http://schemas.microsoft.com/office/drawing/2014/main" id="{C0A41D79-B7CB-4D76-990A-51E86D4BB720}"/>
              </a:ext>
            </a:extLst>
          </p:cNvPr>
          <p:cNvSpPr>
            <a:spLocks xmlns:a="http://schemas.openxmlformats.org/drawingml/2006/main" noGrp="1"/>
          </p:cNvSpPr>
          <p:nvPr/>
        </p:nvSpPr>
        <p:spPr>
          <a:xfrm xmlns:a="http://schemas.openxmlformats.org/drawingml/2006/main">
            <a:off x="609600" y="1162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577"/>
                </a:solidFill>
              </a:defRPr>
            </a:defPPr>
          </a:lstStyle>
          <a:p xmlns:a="http://schemas.openxmlformats.org/drawingml/2006/main">
            <a:pPr>
              <a:defRPr sz="1800" b="0">
                <a:solidFill>
                  <a:srgbClr val="516577"/>
                </a:solidFill>
              </a:defRPr>
            </a:pPr>
            <a:r>
              <a:rPr sz="1800" b="0">
                <a:solidFill>
                  <a:srgbClr val="516577"/>
                </a:solidFill>
              </a:rPr>
              <a:t>Examples establish the local baseline before packaging for EKS.</a:t>
            </a:r>
          </a:p>
        </p:txBody>
      </p:sp>
      <p:sp>
        <p:nvSpPr>
          <p:cNvPr id="3" name="">
            <a:extLst xmlns:a="http://schemas.openxmlformats.org/drawingml/2006/main">
              <a:ext uri="{FF2B5EF4-FFF2-40B4-BE49-F238E27FC236}">
                <a16:creationId xmlns:a16="http://schemas.microsoft.com/office/drawing/2014/main" id="{9B20B1CA-CB35-4F94-8BDA-C0690FB02DF6}"/>
              </a:ext>
            </a:extLst>
          </p:cNvPr>
          <p:cNvSpPr>
            <a:spLocks xmlns:a="http://schemas.openxmlformats.org/drawingml/2006/main" noGrp="1"/>
          </p:cNvSpPr>
          <p:nvPr/>
        </p:nvSpPr>
        <p:spPr>
          <a:xfrm xmlns:a="http://schemas.openxmlformats.org/drawingml/2006/main">
            <a:off x="112776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577"/>
                </a:solidFill>
              </a:defRPr>
            </a:defPPr>
          </a:lstStyle>
          <a:p xmlns:a="http://schemas.openxmlformats.org/drawingml/2006/main">
            <a:pPr>
              <a:defRPr sz="1200" b="0">
                <a:solidFill>
                  <a:srgbClr val="516577"/>
                </a:solidFill>
              </a:defRPr>
            </a:pPr>
            <a:r>
              <a:rPr sz="1200" b="0">
                <a:solidFill>
                  <a:srgbClr val="516577"/>
                </a:solidFill>
              </a:rPr>
              <a:t>11</a:t>
            </a:r>
          </a:p>
        </p:txBody>
      </p:sp>
      <p:sp>
        <p:nvSpPr>
          <p:cNvPr id="4" name="">
            <a:extLst xmlns:a="http://schemas.openxmlformats.org/drawingml/2006/main">
              <a:ext uri="{FF2B5EF4-FFF2-40B4-BE49-F238E27FC236}">
                <a16:creationId xmlns:a16="http://schemas.microsoft.com/office/drawing/2014/main" id="{C9CC6380-BCC6-4FD7-BDB8-EA2CCD520C09}"/>
              </a:ext>
            </a:extLst>
          </p:cNvPr>
          <p:cNvSpPr>
            <a:spLocks xmlns:a="http://schemas.openxmlformats.org/drawingml/2006/main" noGrp="1"/>
          </p:cNvSpPr>
          <p:nvPr/>
        </p:nvSpPr>
        <p:spPr>
          <a:xfrm xmlns:a="http://schemas.openxmlformats.org/drawingml/2006/main">
            <a:off x="666750" y="200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Evaluation environment</a:t>
            </a:r>
          </a:p>
        </p:txBody>
      </p:sp>
      <p:sp>
        <p:nvSpPr>
          <p:cNvPr id="5" name="">
            <a:extLst xmlns:a="http://schemas.openxmlformats.org/drawingml/2006/main">
              <a:ext uri="{FF2B5EF4-FFF2-40B4-BE49-F238E27FC236}">
                <a16:creationId xmlns:a16="http://schemas.microsoft.com/office/drawing/2014/main" id="{D46AB2EF-4C2B-42CA-B634-FE25D0A20F83}"/>
              </a:ext>
            </a:extLst>
          </p:cNvPr>
          <p:cNvSpPr>
            <a:spLocks xmlns:a="http://schemas.openxmlformats.org/drawingml/2006/main" noGrp="1"/>
          </p:cNvSpPr>
          <p:nvPr/>
        </p:nvSpPr>
        <p:spPr>
          <a:xfrm xmlns:a="http://schemas.openxmlformats.org/drawingml/2006/main">
            <a:off x="666750" y="25527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44D"/>
                </a:solidFill>
              </a:defRPr>
            </a:defPPr>
          </a:lstStyle>
          <a:p xmlns:a="http://schemas.openxmlformats.org/drawingml/2006/main">
            <a:pPr>
              <a:defRPr sz="2025" b="0">
                <a:solidFill>
                  <a:srgbClr val="19344D"/>
                </a:solidFill>
              </a:defRPr>
            </a:pPr>
            <a:r>
              <a:rPr sz="2025" b="0">
                <a:solidFill>
                  <a:srgbClr val="19344D"/>
                </a:solidFill>
              </a:rPr>
              <a:t>python -m pip install "mineru&gt;=4.0,&lt;5"</a:t>
            </a:r>
          </a:p>
        </p:txBody>
      </p:sp>
      <p:sp>
        <p:nvSpPr>
          <p:cNvPr id="6" name="">
            <a:extLst xmlns:a="http://schemas.openxmlformats.org/drawingml/2006/main">
              <a:ext uri="{FF2B5EF4-FFF2-40B4-BE49-F238E27FC236}">
                <a16:creationId xmlns:a16="http://schemas.microsoft.com/office/drawing/2014/main" id="{FDAEF498-9605-483A-B07E-BB51912E2802}"/>
              </a:ext>
            </a:extLst>
          </p:cNvPr>
          <p:cNvSpPr>
            <a:spLocks xmlns:a="http://schemas.openxmlformats.org/drawingml/2006/main" noGrp="1"/>
          </p:cNvSpPr>
          <p:nvPr/>
        </p:nvSpPr>
        <p:spPr>
          <a:xfrm xmlns:a="http://schemas.openxmlformats.org/drawingml/2006/main">
            <a:off x="666750" y="33623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Stateless file conversion</a:t>
            </a:r>
          </a:p>
        </p:txBody>
      </p:sp>
      <p:sp>
        <p:nvSpPr>
          <p:cNvPr id="7" name="">
            <a:extLst xmlns:a="http://schemas.openxmlformats.org/drawingml/2006/main">
              <a:ext uri="{FF2B5EF4-FFF2-40B4-BE49-F238E27FC236}">
                <a16:creationId xmlns:a16="http://schemas.microsoft.com/office/drawing/2014/main" id="{D7624D0B-7447-4A53-9C8A-9F024E9E8ADB}"/>
              </a:ext>
            </a:extLst>
          </p:cNvPr>
          <p:cNvSpPr>
            <a:spLocks xmlns:a="http://schemas.openxmlformats.org/drawingml/2006/main" noGrp="1"/>
          </p:cNvSpPr>
          <p:nvPr/>
        </p:nvSpPr>
        <p:spPr>
          <a:xfrm xmlns:a="http://schemas.openxmlformats.org/drawingml/2006/main">
            <a:off x="666750" y="39147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44D"/>
                </a:solidFill>
              </a:defRPr>
            </a:defPPr>
          </a:lstStyle>
          <a:p xmlns:a="http://schemas.openxmlformats.org/drawingml/2006/main">
            <a:pPr>
              <a:defRPr sz="2025" b="0">
                <a:solidFill>
                  <a:srgbClr val="19344D"/>
                </a:solidFill>
              </a:defRPr>
            </a:pPr>
            <a:r>
              <a:rPr sz="2025" b="0">
                <a:solidFill>
                  <a:srgbClr val="19344D"/>
                </a:solidFill>
              </a:rPr>
              <a:t>mineru-kit parse input.pdf -o output.md --tier standard</a:t>
            </a:r>
          </a:p>
        </p:txBody>
      </p:sp>
      <p:sp>
        <p:nvSpPr>
          <p:cNvPr id="8" name="">
            <a:extLst xmlns:a="http://schemas.openxmlformats.org/drawingml/2006/main">
              <a:ext uri="{FF2B5EF4-FFF2-40B4-BE49-F238E27FC236}">
                <a16:creationId xmlns:a16="http://schemas.microsoft.com/office/drawing/2014/main" id="{40DF7A62-2BC8-4229-8046-8319D65437C7}"/>
              </a:ext>
            </a:extLst>
          </p:cNvPr>
          <p:cNvSpPr>
            <a:spLocks xmlns:a="http://schemas.openxmlformats.org/drawingml/2006/main" noGrp="1"/>
          </p:cNvSpPr>
          <p:nvPr/>
        </p:nvSpPr>
        <p:spPr>
          <a:xfrm xmlns:a="http://schemas.openxmlformats.org/drawingml/2006/main">
            <a:off x="666750" y="47244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Internal parsing API</a:t>
            </a:r>
          </a:p>
        </p:txBody>
      </p:sp>
      <p:sp>
        <p:nvSpPr>
          <p:cNvPr id="9" name="">
            <a:extLst xmlns:a="http://schemas.openxmlformats.org/drawingml/2006/main">
              <a:ext uri="{FF2B5EF4-FFF2-40B4-BE49-F238E27FC236}">
                <a16:creationId xmlns:a16="http://schemas.microsoft.com/office/drawing/2014/main" id="{E957F598-32C6-4DBC-886C-019C1C483595}"/>
              </a:ext>
            </a:extLst>
          </p:cNvPr>
          <p:cNvSpPr>
            <a:spLocks xmlns:a="http://schemas.openxmlformats.org/drawingml/2006/main" noGrp="1"/>
          </p:cNvSpPr>
          <p:nvPr/>
        </p:nvSpPr>
        <p:spPr>
          <a:xfrm xmlns:a="http://schemas.openxmlformats.org/drawingml/2006/main">
            <a:off x="666750" y="52768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9344D"/>
                </a:solidFill>
              </a:defRPr>
            </a:defPPr>
          </a:lstStyle>
          <a:p xmlns:a="http://schemas.openxmlformats.org/drawingml/2006/main">
            <a:pPr>
              <a:defRPr sz="1875" b="0">
                <a:solidFill>
                  <a:srgbClr val="19344D"/>
                </a:solidFill>
              </a:defRPr>
            </a:pPr>
            <a:r>
              <a:rPr sz="1875" b="0">
                <a:solidFill>
                  <a:srgbClr val="19344D"/>
                </a:solidFill>
              </a:rPr>
              <a:t>mineru-kit api-server --host 0.0.0.0 --port 8000 --tier standard</a:t>
            </a:r>
          </a:p>
        </p:txBody>
      </p:sp>
    </p:spTree>
    <p:extLst>
      <p:ext uri="{BB962C8B-B14F-4D97-AF65-F5344CB8AC3E}">
        <p14:creationId xmlns:p14="http://schemas.microsoft.com/office/powerpoint/2010/main" val="2073515456"/>
      </p:ext>
    </p:extLst>
  </p:cSld>
</p:sld>
</file>

<file path=ppt/slides/slide12.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A9D1481E-2C65-4915-81A1-3291E6EEF256}"/>
              </a:ext>
            </a:extLst>
          </p:cNvPr>
          <p:cNvCxnSpPr>
            <a:stCxn xmlns:a="http://schemas.openxmlformats.org/drawingml/2006/main" id="6" idx="3"/>
            <a:endCxn xmlns:a="http://schemas.openxmlformats.org/drawingml/2006/main" id="7" idx="1"/>
          </p:cNvCxnSpPr>
          <p:nvPr/>
        </p:nvCxnSpPr>
        <p:spPr>
          <a:xfrm xmlns:a="http://schemas.openxmlformats.org/drawingml/2006/main">
            <a:off x="8724900" y="2857500"/>
            <a:ext cx="457200" cy="0"/>
          </a:xfrm>
          <a:prstGeom xmlns:a="http://schemas.openxmlformats.org/drawingml/2006/main" prst="straightConnector1">
            <a:avLst/>
          </a:prstGeom>
          <a:ln xmlns:a="http://schemas.openxmlformats.org/drawingml/2006/main" w="19050">
            <a:solidFill>
              <a:srgbClr val="7794AC"/>
            </a:solidFill>
            <a:tailEnd type="arrow" w="med" len="med"/>
          </a:ln>
        </p:spPr>
      </p:cxnSp>
      <p:cxnSp>
        <p:nvCxnSpPr>
          <p:cNvPr id="9" name="">
            <a:extLst xmlns:a="http://schemas.openxmlformats.org/drawingml/2006/main">
              <a:ext uri="{FF2B5EF4-FFF2-40B4-BE49-F238E27FC236}">
                <a16:creationId xmlns:a16="http://schemas.microsoft.com/office/drawing/2014/main" id="{67499A26-224C-468C-9CF5-39F48771E062}"/>
              </a:ext>
            </a:extLst>
          </p:cNvPr>
          <p:cNvCxnSpPr>
            <a:stCxn xmlns:a="http://schemas.openxmlformats.org/drawingml/2006/main" id="5" idx="3"/>
            <a:endCxn xmlns:a="http://schemas.openxmlformats.org/drawingml/2006/main" id="6" idx="1"/>
          </p:cNvCxnSpPr>
          <p:nvPr/>
        </p:nvCxnSpPr>
        <p:spPr>
          <a:xfrm xmlns:a="http://schemas.openxmlformats.org/drawingml/2006/main">
            <a:off x="5867400" y="2857500"/>
            <a:ext cx="457200" cy="0"/>
          </a:xfrm>
          <a:prstGeom xmlns:a="http://schemas.openxmlformats.org/drawingml/2006/main" prst="straightConnector1">
            <a:avLst/>
          </a:prstGeom>
          <a:ln xmlns:a="http://schemas.openxmlformats.org/drawingml/2006/main" w="19050">
            <a:solidFill>
              <a:srgbClr val="7794AC"/>
            </a:solidFill>
            <a:tailEnd type="arrow" w="med" len="med"/>
          </a:ln>
        </p:spPr>
      </p:cxnSp>
      <p:cxnSp>
        <p:nvCxnSpPr>
          <p:cNvPr id="8" name="">
            <a:extLst xmlns:a="http://schemas.openxmlformats.org/drawingml/2006/main">
              <a:ext uri="{FF2B5EF4-FFF2-40B4-BE49-F238E27FC236}">
                <a16:creationId xmlns:a16="http://schemas.microsoft.com/office/drawing/2014/main" id="{E9C24496-94C6-4464-A29C-DAA90E6C8089}"/>
              </a:ext>
            </a:extLst>
          </p:cNvPr>
          <p:cNvCxnSpPr>
            <a:stCxn xmlns:a="http://schemas.openxmlformats.org/drawingml/2006/main" id="4" idx="3"/>
            <a:endCxn xmlns:a="http://schemas.openxmlformats.org/drawingml/2006/main" id="5" idx="1"/>
          </p:cNvCxnSpPr>
          <p:nvPr/>
        </p:nvCxnSpPr>
        <p:spPr>
          <a:xfrm xmlns:a="http://schemas.openxmlformats.org/drawingml/2006/main">
            <a:off x="3009900" y="2857500"/>
            <a:ext cx="457200" cy="0"/>
          </a:xfrm>
          <a:prstGeom xmlns:a="http://schemas.openxmlformats.org/drawingml/2006/main" prst="straightConnector1">
            <a:avLst/>
          </a:prstGeom>
          <a:ln xmlns:a="http://schemas.openxmlformats.org/drawingml/2006/main" w="19050">
            <a:solidFill>
              <a:srgbClr val="7794AC"/>
            </a:solidFill>
            <a:tailEnd type="arrow" w="med" len="med"/>
          </a:ln>
        </p:spPr>
      </p:cxnSp>
      <p:sp>
        <p:nvSpPr>
          <p:cNvPr id="15" name="">
            <a:extLst xmlns:a="http://schemas.openxmlformats.org/drawingml/2006/main">
              <a:ext uri="{FF2B5EF4-FFF2-40B4-BE49-F238E27FC236}">
                <a16:creationId xmlns:a16="http://schemas.microsoft.com/office/drawing/2014/main" id="{A49F32BF-48D5-49C2-80B7-94C3F83B37B1}"/>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9344D"/>
                </a:solidFill>
              </a:defRPr>
            </a:defPPr>
          </a:lstStyle>
          <a:p xmlns:a="http://schemas.openxmlformats.org/drawingml/2006/main">
            <a:pPr>
              <a:defRPr sz="3150" b="1">
                <a:solidFill>
                  <a:srgbClr val="19344D"/>
                </a:solidFill>
              </a:defRPr>
            </a:pPr>
            <a:r>
              <a:rPr sz="3150" b="1">
                <a:solidFill>
                  <a:srgbClr val="19344D"/>
                </a:solidFill>
              </a:rPr>
              <a:t>Integration into your RAG pipeline</a:t>
            </a:r>
          </a:p>
        </p:txBody>
      </p:sp>
      <p:sp>
        <p:nvSpPr>
          <p:cNvPr id="2" name="">
            <a:extLst xmlns:a="http://schemas.openxmlformats.org/drawingml/2006/main">
              <a:ext uri="{FF2B5EF4-FFF2-40B4-BE49-F238E27FC236}">
                <a16:creationId xmlns:a16="http://schemas.microsoft.com/office/drawing/2014/main" id="{0F0058B5-1B79-46F3-BE44-7AF405109E6E}"/>
              </a:ext>
            </a:extLst>
          </p:cNvPr>
          <p:cNvSpPr>
            <a:spLocks xmlns:a="http://schemas.openxmlformats.org/drawingml/2006/main" noGrp="1"/>
          </p:cNvSpPr>
          <p:nvPr/>
        </p:nvSpPr>
        <p:spPr>
          <a:xfrm xmlns:a="http://schemas.openxmlformats.org/drawingml/2006/main">
            <a:off x="609600" y="1162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577"/>
                </a:solidFill>
              </a:defRPr>
            </a:defPPr>
          </a:lstStyle>
          <a:p xmlns:a="http://schemas.openxmlformats.org/drawingml/2006/main">
            <a:pPr>
              <a:defRPr sz="1800" b="0">
                <a:solidFill>
                  <a:srgbClr val="516577"/>
                </a:solidFill>
              </a:defRPr>
            </a:pPr>
            <a:r>
              <a:rPr sz="1800" b="0">
                <a:solidFill>
                  <a:srgbClr val="516577"/>
                </a:solidFill>
              </a:rPr>
              <a:t>Keep extraction metadata with every indexed chunk.</a:t>
            </a:r>
          </a:p>
        </p:txBody>
      </p:sp>
      <p:sp>
        <p:nvSpPr>
          <p:cNvPr id="3" name="">
            <a:extLst xmlns:a="http://schemas.openxmlformats.org/drawingml/2006/main">
              <a:ext uri="{FF2B5EF4-FFF2-40B4-BE49-F238E27FC236}">
                <a16:creationId xmlns:a16="http://schemas.microsoft.com/office/drawing/2014/main" id="{45D4868F-2730-4085-A212-910A5EDE574C}"/>
              </a:ext>
            </a:extLst>
          </p:cNvPr>
          <p:cNvSpPr>
            <a:spLocks xmlns:a="http://schemas.openxmlformats.org/drawingml/2006/main" noGrp="1"/>
          </p:cNvSpPr>
          <p:nvPr/>
        </p:nvSpPr>
        <p:spPr>
          <a:xfrm xmlns:a="http://schemas.openxmlformats.org/drawingml/2006/main">
            <a:off x="112776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577"/>
                </a:solidFill>
              </a:defRPr>
            </a:defPPr>
          </a:lstStyle>
          <a:p xmlns:a="http://schemas.openxmlformats.org/drawingml/2006/main">
            <a:pPr>
              <a:defRPr sz="1200" b="0">
                <a:solidFill>
                  <a:srgbClr val="516577"/>
                </a:solidFill>
              </a:defRPr>
            </a:pPr>
            <a:r>
              <a:rPr sz="1200" b="0">
                <a:solidFill>
                  <a:srgbClr val="516577"/>
                </a:solidFill>
              </a:rPr>
              <a:t>12</a:t>
            </a:r>
          </a:p>
        </p:txBody>
      </p:sp>
      <p:sp>
        <p:nvSpPr>
          <p:cNvPr id="4" name="">
            <a:extLst xmlns:a="http://schemas.openxmlformats.org/drawingml/2006/main">
              <a:ext uri="{FF2B5EF4-FFF2-40B4-BE49-F238E27FC236}">
                <a16:creationId xmlns:a16="http://schemas.microsoft.com/office/drawing/2014/main" id="{89780850-3106-413A-890D-8D0E99E6351D}"/>
              </a:ext>
            </a:extLst>
          </p:cNvPr>
          <p:cNvSpPr>
            <a:spLocks xmlns:a="http://schemas.openxmlformats.org/drawingml/2006/main" noGrp="1"/>
          </p:cNvSpPr>
          <p:nvPr/>
        </p:nvSpPr>
        <p:spPr>
          <a:xfrm xmlns:a="http://schemas.openxmlformats.org/drawingml/2006/main">
            <a:off x="609600" y="2381250"/>
            <a:ext cx="2400300" cy="952500"/>
          </a:xfrm>
          <a:prstGeom xmlns:a="http://schemas.openxmlformats.org/drawingml/2006/main" prst="rect">
            <a:avLst/>
          </a:prstGeom>
          <a:solidFill xmlns:a="http://schemas.openxmlformats.org/drawingml/2006/main">
            <a:srgbClr val="E8F1FA"/>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Parsed blocks</a:t>
            </a:r>
          </a:p>
        </p:txBody>
      </p:sp>
      <p:sp>
        <p:nvSpPr>
          <p:cNvPr id="5" name="">
            <a:extLst xmlns:a="http://schemas.openxmlformats.org/drawingml/2006/main">
              <a:ext uri="{FF2B5EF4-FFF2-40B4-BE49-F238E27FC236}">
                <a16:creationId xmlns:a16="http://schemas.microsoft.com/office/drawing/2014/main" id="{7FA85B7E-44D8-4140-9C3E-D7650BD625AF}"/>
              </a:ext>
            </a:extLst>
          </p:cNvPr>
          <p:cNvSpPr>
            <a:spLocks xmlns:a="http://schemas.openxmlformats.org/drawingml/2006/main" noGrp="1"/>
          </p:cNvSpPr>
          <p:nvPr/>
        </p:nvSpPr>
        <p:spPr>
          <a:xfrm xmlns:a="http://schemas.openxmlformats.org/drawingml/2006/main">
            <a:off x="3467100" y="2381250"/>
            <a:ext cx="2400300" cy="952500"/>
          </a:xfrm>
          <a:prstGeom xmlns:a="http://schemas.openxmlformats.org/drawingml/2006/main" prst="rect">
            <a:avLst/>
          </a:prstGeom>
          <a:solidFill xmlns:a="http://schemas.openxmlformats.org/drawingml/2006/main">
            <a:srgbClr val="E7F4F1"/>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Semantic chunks</a:t>
            </a:r>
          </a:p>
        </p:txBody>
      </p:sp>
      <p:sp>
        <p:nvSpPr>
          <p:cNvPr id="6" name="">
            <a:extLst xmlns:a="http://schemas.openxmlformats.org/drawingml/2006/main">
              <a:ext uri="{FF2B5EF4-FFF2-40B4-BE49-F238E27FC236}">
                <a16:creationId xmlns:a16="http://schemas.microsoft.com/office/drawing/2014/main" id="{9124E440-E5D2-422E-B036-DFAA184FE02F}"/>
              </a:ext>
            </a:extLst>
          </p:cNvPr>
          <p:cNvSpPr>
            <a:spLocks xmlns:a="http://schemas.openxmlformats.org/drawingml/2006/main" noGrp="1"/>
          </p:cNvSpPr>
          <p:nvPr/>
        </p:nvSpPr>
        <p:spPr>
          <a:xfrm xmlns:a="http://schemas.openxmlformats.org/drawingml/2006/main">
            <a:off x="6324600" y="2381250"/>
            <a:ext cx="2400300" cy="952500"/>
          </a:xfrm>
          <a:prstGeom xmlns:a="http://schemas.openxmlformats.org/drawingml/2006/main" prst="rect">
            <a:avLst/>
          </a:prstGeom>
          <a:solidFill xmlns:a="http://schemas.openxmlformats.org/drawingml/2006/main">
            <a:srgbClr val="E8F1FA"/>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Embeddings</a:t>
            </a:r>
          </a:p>
        </p:txBody>
      </p:sp>
      <p:sp>
        <p:nvSpPr>
          <p:cNvPr id="7" name="">
            <a:extLst xmlns:a="http://schemas.openxmlformats.org/drawingml/2006/main">
              <a:ext uri="{FF2B5EF4-FFF2-40B4-BE49-F238E27FC236}">
                <a16:creationId xmlns:a16="http://schemas.microsoft.com/office/drawing/2014/main" id="{337260E1-3146-419D-B63A-B429E6A058D2}"/>
              </a:ext>
            </a:extLst>
          </p:cNvPr>
          <p:cNvSpPr>
            <a:spLocks xmlns:a="http://schemas.openxmlformats.org/drawingml/2006/main" noGrp="1"/>
          </p:cNvSpPr>
          <p:nvPr/>
        </p:nvSpPr>
        <p:spPr>
          <a:xfrm xmlns:a="http://schemas.openxmlformats.org/drawingml/2006/main">
            <a:off x="9182100" y="2381250"/>
            <a:ext cx="2400300" cy="952500"/>
          </a:xfrm>
          <a:prstGeom xmlns:a="http://schemas.openxmlformats.org/drawingml/2006/main" prst="rect">
            <a:avLst/>
          </a:prstGeom>
          <a:solidFill xmlns:a="http://schemas.openxmlformats.org/drawingml/2006/main">
            <a:srgbClr val="E7F4F1"/>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pgvector index</a:t>
            </a:r>
          </a:p>
        </p:txBody>
      </p:sp>
      <p:sp>
        <p:nvSpPr>
          <p:cNvPr id="11" name="">
            <a:extLst xmlns:a="http://schemas.openxmlformats.org/drawingml/2006/main">
              <a:ext uri="{FF2B5EF4-FFF2-40B4-BE49-F238E27FC236}">
                <a16:creationId xmlns:a16="http://schemas.microsoft.com/office/drawing/2014/main" id="{E44F7B5C-FAFE-465B-81B9-BD9FBD0620D5}"/>
              </a:ext>
            </a:extLst>
          </p:cNvPr>
          <p:cNvSpPr>
            <a:spLocks xmlns:a="http://schemas.openxmlformats.org/drawingml/2006/main" noGrp="1"/>
          </p:cNvSpPr>
          <p:nvPr/>
        </p:nvSpPr>
        <p:spPr>
          <a:xfrm xmlns:a="http://schemas.openxmlformats.org/drawingml/2006/main">
            <a:off x="666750" y="39528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9344D"/>
                </a:solidFill>
              </a:defRPr>
            </a:defPPr>
          </a:lstStyle>
          <a:p xmlns:a="http://schemas.openxmlformats.org/drawingml/2006/main">
            <a:pPr>
              <a:defRPr sz="2100" b="1">
                <a:solidFill>
                  <a:srgbClr val="19344D"/>
                </a:solidFill>
              </a:defRPr>
            </a:pPr>
            <a:r>
              <a:rPr sz="2100" b="1">
                <a:solidFill>
                  <a:srgbClr val="19344D"/>
                </a:solidFill>
              </a:rPr>
              <a:t>Chunk policy</a:t>
            </a:r>
          </a:p>
        </p:txBody>
      </p:sp>
      <p:sp>
        <p:nvSpPr>
          <p:cNvPr id="12" name="">
            <a:extLst xmlns:a="http://schemas.openxmlformats.org/drawingml/2006/main">
              <a:ext uri="{FF2B5EF4-FFF2-40B4-BE49-F238E27FC236}">
                <a16:creationId xmlns:a16="http://schemas.microsoft.com/office/drawing/2014/main" id="{343DC97F-139F-412D-8DA5-C9621B1118D7}"/>
              </a:ext>
            </a:extLst>
          </p:cNvPr>
          <p:cNvSpPr>
            <a:spLocks xmlns:a="http://schemas.openxmlformats.org/drawingml/2006/main" noGrp="1"/>
          </p:cNvSpPr>
          <p:nvPr/>
        </p:nvSpPr>
        <p:spPr>
          <a:xfrm xmlns:a="http://schemas.openxmlformats.org/drawingml/2006/main">
            <a:off x="3810000" y="3952875"/>
            <a:ext cx="752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344D"/>
                </a:solidFill>
              </a:defRPr>
            </a:defPPr>
          </a:lstStyle>
          <a:p xmlns:a="http://schemas.openxmlformats.org/drawingml/2006/main">
            <a:pPr>
              <a:defRPr sz="1950" b="0">
                <a:solidFill>
                  <a:srgbClr val="19344D"/>
                </a:solidFill>
              </a:defRPr>
            </a:pPr>
            <a:r>
              <a:rPr sz="1950" b="0">
                <a:solidFill>
                  <a:srgbClr val="19344D"/>
                </a:solidFill>
              </a:rPr>
              <a:t>Keep headings and table context. Link figure assets to captions.</a:t>
            </a:r>
          </a:p>
        </p:txBody>
      </p:sp>
      <p:sp>
        <p:nvSpPr>
          <p:cNvPr id="13" name="">
            <a:extLst xmlns:a="http://schemas.openxmlformats.org/drawingml/2006/main">
              <a:ext uri="{FF2B5EF4-FFF2-40B4-BE49-F238E27FC236}">
                <a16:creationId xmlns:a16="http://schemas.microsoft.com/office/drawing/2014/main" id="{0D6A2349-A05A-45A5-AD2C-098B327263D6}"/>
              </a:ext>
            </a:extLst>
          </p:cNvPr>
          <p:cNvSpPr>
            <a:spLocks xmlns:a="http://schemas.openxmlformats.org/drawingml/2006/main" noGrp="1"/>
          </p:cNvSpPr>
          <p:nvPr/>
        </p:nvSpPr>
        <p:spPr>
          <a:xfrm xmlns:a="http://schemas.openxmlformats.org/drawingml/2006/main">
            <a:off x="666750" y="503872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9344D"/>
                </a:solidFill>
              </a:defRPr>
            </a:defPPr>
          </a:lstStyle>
          <a:p xmlns:a="http://schemas.openxmlformats.org/drawingml/2006/main">
            <a:pPr>
              <a:defRPr sz="2100" b="1">
                <a:solidFill>
                  <a:srgbClr val="19344D"/>
                </a:solidFill>
              </a:defRPr>
            </a:pPr>
            <a:r>
              <a:rPr sz="2100" b="1">
                <a:solidFill>
                  <a:srgbClr val="19344D"/>
                </a:solidFill>
              </a:rPr>
              <a:t>Traceability</a:t>
            </a:r>
          </a:p>
        </p:txBody>
      </p:sp>
      <p:sp>
        <p:nvSpPr>
          <p:cNvPr id="14" name="">
            <a:extLst xmlns:a="http://schemas.openxmlformats.org/drawingml/2006/main">
              <a:ext uri="{FF2B5EF4-FFF2-40B4-BE49-F238E27FC236}">
                <a16:creationId xmlns:a16="http://schemas.microsoft.com/office/drawing/2014/main" id="{4EF307CD-2E4C-48AF-BD60-64AFFA5FFBC6}"/>
              </a:ext>
            </a:extLst>
          </p:cNvPr>
          <p:cNvSpPr>
            <a:spLocks xmlns:a="http://schemas.openxmlformats.org/drawingml/2006/main" noGrp="1"/>
          </p:cNvSpPr>
          <p:nvPr/>
        </p:nvSpPr>
        <p:spPr>
          <a:xfrm xmlns:a="http://schemas.openxmlformats.org/drawingml/2006/main">
            <a:off x="3810000" y="5038725"/>
            <a:ext cx="752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344D"/>
                </a:solidFill>
              </a:defRPr>
            </a:defPPr>
          </a:lstStyle>
          <a:p xmlns:a="http://schemas.openxmlformats.org/drawingml/2006/main">
            <a:pPr>
              <a:defRPr sz="1950" b="0">
                <a:solidFill>
                  <a:srgbClr val="19344D"/>
                </a:solidFill>
              </a:defRPr>
            </a:pPr>
            <a:r>
              <a:rPr sz="1950" b="0">
                <a:solidFill>
                  <a:srgbClr val="19344D"/>
                </a:solidFill>
              </a:rPr>
              <a:t>Carry source document, page, access rules and parser version.</a:t>
            </a:r>
          </a:p>
        </p:txBody>
      </p:sp>
    </p:spTree>
    <p:extLst>
      <p:ext uri="{BB962C8B-B14F-4D97-AF65-F5344CB8AC3E}">
        <p14:creationId xmlns:p14="http://schemas.microsoft.com/office/powerpoint/2010/main" val="1903597308"/>
      </p:ext>
    </p:extLst>
  </p:cSld>
</p:sld>
</file>

<file path=ppt/slides/slide13.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FA2E4B00-B303-4238-AE31-DE3BEB04CCB9}"/>
              </a:ext>
            </a:extLst>
          </p:cNvPr>
          <p:cNvCxnSpPr>
            <a:stCxn xmlns:a="http://schemas.openxmlformats.org/drawingml/2006/main" id="6" idx="3"/>
            <a:endCxn xmlns:a="http://schemas.openxmlformats.org/drawingml/2006/main" id="7" idx="1"/>
          </p:cNvCxnSpPr>
          <p:nvPr/>
        </p:nvCxnSpPr>
        <p:spPr>
          <a:xfrm xmlns:a="http://schemas.openxmlformats.org/drawingml/2006/main">
            <a:off x="8724900" y="2857500"/>
            <a:ext cx="457200" cy="0"/>
          </a:xfrm>
          <a:prstGeom xmlns:a="http://schemas.openxmlformats.org/drawingml/2006/main" prst="straightConnector1">
            <a:avLst/>
          </a:prstGeom>
          <a:ln xmlns:a="http://schemas.openxmlformats.org/drawingml/2006/main" w="19050">
            <a:solidFill>
              <a:srgbClr val="7794AC"/>
            </a:solidFill>
            <a:tailEnd type="arrow" w="med" len="med"/>
          </a:ln>
        </p:spPr>
      </p:cxnSp>
      <p:cxnSp>
        <p:nvCxnSpPr>
          <p:cNvPr id="9" name="">
            <a:extLst xmlns:a="http://schemas.openxmlformats.org/drawingml/2006/main">
              <a:ext uri="{FF2B5EF4-FFF2-40B4-BE49-F238E27FC236}">
                <a16:creationId xmlns:a16="http://schemas.microsoft.com/office/drawing/2014/main" id="{C528FE81-F3BF-4282-8A06-46585646B272}"/>
              </a:ext>
            </a:extLst>
          </p:cNvPr>
          <p:cNvCxnSpPr>
            <a:stCxn xmlns:a="http://schemas.openxmlformats.org/drawingml/2006/main" id="5" idx="3"/>
            <a:endCxn xmlns:a="http://schemas.openxmlformats.org/drawingml/2006/main" id="6" idx="1"/>
          </p:cNvCxnSpPr>
          <p:nvPr/>
        </p:nvCxnSpPr>
        <p:spPr>
          <a:xfrm xmlns:a="http://schemas.openxmlformats.org/drawingml/2006/main">
            <a:off x="5867400" y="2857500"/>
            <a:ext cx="457200" cy="0"/>
          </a:xfrm>
          <a:prstGeom xmlns:a="http://schemas.openxmlformats.org/drawingml/2006/main" prst="straightConnector1">
            <a:avLst/>
          </a:prstGeom>
          <a:ln xmlns:a="http://schemas.openxmlformats.org/drawingml/2006/main" w="19050">
            <a:solidFill>
              <a:srgbClr val="7794AC"/>
            </a:solidFill>
            <a:tailEnd type="arrow" w="med" len="med"/>
          </a:ln>
        </p:spPr>
      </p:cxnSp>
      <p:cxnSp>
        <p:nvCxnSpPr>
          <p:cNvPr id="8" name="">
            <a:extLst xmlns:a="http://schemas.openxmlformats.org/drawingml/2006/main">
              <a:ext uri="{FF2B5EF4-FFF2-40B4-BE49-F238E27FC236}">
                <a16:creationId xmlns:a16="http://schemas.microsoft.com/office/drawing/2014/main" id="{CB48FFE8-CE7E-48EE-A783-5F1902BFAE54}"/>
              </a:ext>
            </a:extLst>
          </p:cNvPr>
          <p:cNvCxnSpPr>
            <a:stCxn xmlns:a="http://schemas.openxmlformats.org/drawingml/2006/main" id="4" idx="3"/>
            <a:endCxn xmlns:a="http://schemas.openxmlformats.org/drawingml/2006/main" id="5" idx="1"/>
          </p:cNvCxnSpPr>
          <p:nvPr/>
        </p:nvCxnSpPr>
        <p:spPr>
          <a:xfrm xmlns:a="http://schemas.openxmlformats.org/drawingml/2006/main">
            <a:off x="3009900" y="2857500"/>
            <a:ext cx="457200" cy="0"/>
          </a:xfrm>
          <a:prstGeom xmlns:a="http://schemas.openxmlformats.org/drawingml/2006/main" prst="straightConnector1">
            <a:avLst/>
          </a:prstGeom>
          <a:ln xmlns:a="http://schemas.openxmlformats.org/drawingml/2006/main" w="19050">
            <a:solidFill>
              <a:srgbClr val="7794AC"/>
            </a:solidFill>
            <a:tailEnd type="arrow" w="med" len="med"/>
          </a:ln>
        </p:spPr>
      </p:cxnSp>
      <p:sp>
        <p:nvSpPr>
          <p:cNvPr id="13" name="">
            <a:extLst xmlns:a="http://schemas.openxmlformats.org/drawingml/2006/main">
              <a:ext uri="{FF2B5EF4-FFF2-40B4-BE49-F238E27FC236}">
                <a16:creationId xmlns:a16="http://schemas.microsoft.com/office/drawing/2014/main" id="{C0D5CB4B-0713-46B7-9BF2-8150797828BD}"/>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9344D"/>
                </a:solidFill>
              </a:defRPr>
            </a:defPPr>
          </a:lstStyle>
          <a:p xmlns:a="http://schemas.openxmlformats.org/drawingml/2006/main">
            <a:pPr>
              <a:defRPr sz="3150" b="1">
                <a:solidFill>
                  <a:srgbClr val="19344D"/>
                </a:solidFill>
              </a:defRPr>
            </a:pPr>
            <a:r>
              <a:rPr sz="3150" b="1">
                <a:solidFill>
                  <a:srgbClr val="19344D"/>
                </a:solidFill>
              </a:rPr>
              <a:t>Retrieval and answer workflow</a:t>
            </a:r>
          </a:p>
        </p:txBody>
      </p:sp>
      <p:sp>
        <p:nvSpPr>
          <p:cNvPr id="2" name="">
            <a:extLst xmlns:a="http://schemas.openxmlformats.org/drawingml/2006/main">
              <a:ext uri="{FF2B5EF4-FFF2-40B4-BE49-F238E27FC236}">
                <a16:creationId xmlns:a16="http://schemas.microsoft.com/office/drawing/2014/main" id="{4ADA0CF9-B720-4633-AA36-605FF72C619C}"/>
              </a:ext>
            </a:extLst>
          </p:cNvPr>
          <p:cNvSpPr>
            <a:spLocks xmlns:a="http://schemas.openxmlformats.org/drawingml/2006/main" noGrp="1"/>
          </p:cNvSpPr>
          <p:nvPr/>
        </p:nvSpPr>
        <p:spPr>
          <a:xfrm xmlns:a="http://schemas.openxmlformats.org/drawingml/2006/main">
            <a:off x="609600" y="1162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577"/>
                </a:solidFill>
              </a:defRPr>
            </a:defPPr>
          </a:lstStyle>
          <a:p xmlns:a="http://schemas.openxmlformats.org/drawingml/2006/main">
            <a:pPr>
              <a:defRPr sz="1800" b="0">
                <a:solidFill>
                  <a:srgbClr val="516577"/>
                </a:solidFill>
              </a:defRPr>
            </a:pPr>
            <a:r>
              <a:rPr sz="1800" b="0">
                <a:solidFill>
                  <a:srgbClr val="516577"/>
                </a:solidFill>
              </a:rPr>
              <a:t>Hybrid retrieval combines exact terminology with semantic similarity.</a:t>
            </a:r>
          </a:p>
        </p:txBody>
      </p:sp>
      <p:sp>
        <p:nvSpPr>
          <p:cNvPr id="3" name="">
            <a:extLst xmlns:a="http://schemas.openxmlformats.org/drawingml/2006/main">
              <a:ext uri="{FF2B5EF4-FFF2-40B4-BE49-F238E27FC236}">
                <a16:creationId xmlns:a16="http://schemas.microsoft.com/office/drawing/2014/main" id="{1F233C55-1A47-4B08-AFA4-A4DABF717004}"/>
              </a:ext>
            </a:extLst>
          </p:cNvPr>
          <p:cNvSpPr>
            <a:spLocks xmlns:a="http://schemas.openxmlformats.org/drawingml/2006/main" noGrp="1"/>
          </p:cNvSpPr>
          <p:nvPr/>
        </p:nvSpPr>
        <p:spPr>
          <a:xfrm xmlns:a="http://schemas.openxmlformats.org/drawingml/2006/main">
            <a:off x="112776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577"/>
                </a:solidFill>
              </a:defRPr>
            </a:defPPr>
          </a:lstStyle>
          <a:p xmlns:a="http://schemas.openxmlformats.org/drawingml/2006/main">
            <a:pPr>
              <a:defRPr sz="1200" b="0">
                <a:solidFill>
                  <a:srgbClr val="516577"/>
                </a:solidFill>
              </a:defRPr>
            </a:pPr>
            <a:r>
              <a:rPr sz="1200" b="0">
                <a:solidFill>
                  <a:srgbClr val="516577"/>
                </a:solidFill>
              </a:rPr>
              <a:t>13</a:t>
            </a:r>
          </a:p>
        </p:txBody>
      </p:sp>
      <p:sp>
        <p:nvSpPr>
          <p:cNvPr id="4" name="">
            <a:extLst xmlns:a="http://schemas.openxmlformats.org/drawingml/2006/main">
              <a:ext uri="{FF2B5EF4-FFF2-40B4-BE49-F238E27FC236}">
                <a16:creationId xmlns:a16="http://schemas.microsoft.com/office/drawing/2014/main" id="{0869BCFA-9E5E-44C9-A9B9-09C4CDA2CE3F}"/>
              </a:ext>
            </a:extLst>
          </p:cNvPr>
          <p:cNvSpPr>
            <a:spLocks xmlns:a="http://schemas.openxmlformats.org/drawingml/2006/main" noGrp="1"/>
          </p:cNvSpPr>
          <p:nvPr/>
        </p:nvSpPr>
        <p:spPr>
          <a:xfrm xmlns:a="http://schemas.openxmlformats.org/drawingml/2006/main">
            <a:off x="609600" y="2381250"/>
            <a:ext cx="2400300" cy="952500"/>
          </a:xfrm>
          <a:prstGeom xmlns:a="http://schemas.openxmlformats.org/drawingml/2006/main" prst="rect">
            <a:avLst/>
          </a:prstGeom>
          <a:solidFill xmlns:a="http://schemas.openxmlformats.org/drawingml/2006/main">
            <a:srgbClr val="E8F1FA"/>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User question</a:t>
            </a:r>
          </a:p>
        </p:txBody>
      </p:sp>
      <p:sp>
        <p:nvSpPr>
          <p:cNvPr id="5" name="">
            <a:extLst xmlns:a="http://schemas.openxmlformats.org/drawingml/2006/main">
              <a:ext uri="{FF2B5EF4-FFF2-40B4-BE49-F238E27FC236}">
                <a16:creationId xmlns:a16="http://schemas.microsoft.com/office/drawing/2014/main" id="{1E57D690-2C5A-4BDD-9D86-6B8EC9794983}"/>
              </a:ext>
            </a:extLst>
          </p:cNvPr>
          <p:cNvSpPr>
            <a:spLocks xmlns:a="http://schemas.openxmlformats.org/drawingml/2006/main" noGrp="1"/>
          </p:cNvSpPr>
          <p:nvPr/>
        </p:nvSpPr>
        <p:spPr>
          <a:xfrm xmlns:a="http://schemas.openxmlformats.org/drawingml/2006/main">
            <a:off x="3467100" y="2381250"/>
            <a:ext cx="2400300" cy="952500"/>
          </a:xfrm>
          <a:prstGeom xmlns:a="http://schemas.openxmlformats.org/drawingml/2006/main" prst="rect">
            <a:avLst/>
          </a:prstGeom>
          <a:solidFill xmlns:a="http://schemas.openxmlformats.org/drawingml/2006/main">
            <a:srgbClr val="E7F4F1"/>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ACL-filtered</a:t>
            </a:r>
          </a:p>
          <a:p xmlns:a="http://schemas.openxmlformats.org/drawingml/2006/main">
            <a:pPr algn="ctr">
              <a:defRPr sz="1875" b="1">
                <a:solidFill>
                  <a:srgbClr val="19344D"/>
                </a:solidFill>
              </a:defRPr>
            </a:pPr>
            <a:r>
              <a:rPr sz="1875" b="1">
                <a:solidFill>
                  <a:srgbClr val="19344D"/>
                </a:solidFill>
              </a:rPr>
              <a:t>hybrid search</a:t>
            </a:r>
          </a:p>
        </p:txBody>
      </p:sp>
      <p:sp>
        <p:nvSpPr>
          <p:cNvPr id="6" name="">
            <a:extLst xmlns:a="http://schemas.openxmlformats.org/drawingml/2006/main">
              <a:ext uri="{FF2B5EF4-FFF2-40B4-BE49-F238E27FC236}">
                <a16:creationId xmlns:a16="http://schemas.microsoft.com/office/drawing/2014/main" id="{7C2C5054-3792-4957-A2FF-8D6607F04F07}"/>
              </a:ext>
            </a:extLst>
          </p:cNvPr>
          <p:cNvSpPr>
            <a:spLocks xmlns:a="http://schemas.openxmlformats.org/drawingml/2006/main" noGrp="1"/>
          </p:cNvSpPr>
          <p:nvPr/>
        </p:nvSpPr>
        <p:spPr>
          <a:xfrm xmlns:a="http://schemas.openxmlformats.org/drawingml/2006/main">
            <a:off x="6324600" y="2381250"/>
            <a:ext cx="2400300" cy="952500"/>
          </a:xfrm>
          <a:prstGeom xmlns:a="http://schemas.openxmlformats.org/drawingml/2006/main" prst="rect">
            <a:avLst/>
          </a:prstGeom>
          <a:solidFill xmlns:a="http://schemas.openxmlformats.org/drawingml/2006/main">
            <a:srgbClr val="E8F1FA"/>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Ranked evidence</a:t>
            </a:r>
          </a:p>
        </p:txBody>
      </p:sp>
      <p:sp>
        <p:nvSpPr>
          <p:cNvPr id="7" name="">
            <a:extLst xmlns:a="http://schemas.openxmlformats.org/drawingml/2006/main">
              <a:ext uri="{FF2B5EF4-FFF2-40B4-BE49-F238E27FC236}">
                <a16:creationId xmlns:a16="http://schemas.microsoft.com/office/drawing/2014/main" id="{01E92631-9D8E-40D9-B647-C296FCD456FA}"/>
              </a:ext>
            </a:extLst>
          </p:cNvPr>
          <p:cNvSpPr>
            <a:spLocks xmlns:a="http://schemas.openxmlformats.org/drawingml/2006/main" noGrp="1"/>
          </p:cNvSpPr>
          <p:nvPr/>
        </p:nvSpPr>
        <p:spPr>
          <a:xfrm xmlns:a="http://schemas.openxmlformats.org/drawingml/2006/main">
            <a:off x="9182100" y="2381250"/>
            <a:ext cx="2400300" cy="952500"/>
          </a:xfrm>
          <a:prstGeom xmlns:a="http://schemas.openxmlformats.org/drawingml/2006/main" prst="rect">
            <a:avLst/>
          </a:prstGeom>
          <a:solidFill xmlns:a="http://schemas.openxmlformats.org/drawingml/2006/main">
            <a:srgbClr val="E7F4F1"/>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LLM answer</a:t>
            </a:r>
          </a:p>
        </p:txBody>
      </p:sp>
      <p:sp>
        <p:nvSpPr>
          <p:cNvPr id="11" name="">
            <a:extLst xmlns:a="http://schemas.openxmlformats.org/drawingml/2006/main">
              <a:ext uri="{FF2B5EF4-FFF2-40B4-BE49-F238E27FC236}">
                <a16:creationId xmlns:a16="http://schemas.microsoft.com/office/drawing/2014/main" id="{24662F8B-9227-4AED-A881-FE53755AE721}"/>
              </a:ext>
            </a:extLst>
          </p:cNvPr>
          <p:cNvSpPr>
            <a:spLocks xmlns:a="http://schemas.openxmlformats.org/drawingml/2006/main" noGrp="1"/>
          </p:cNvSpPr>
          <p:nvPr/>
        </p:nvSpPr>
        <p:spPr>
          <a:xfrm xmlns:a="http://schemas.openxmlformats.org/drawingml/2006/main">
            <a:off x="666750" y="40481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9344D"/>
                </a:solidFill>
              </a:defRPr>
            </a:defPPr>
          </a:lstStyle>
          <a:p xmlns:a="http://schemas.openxmlformats.org/drawingml/2006/main">
            <a:pPr>
              <a:defRPr sz="2100" b="1">
                <a:solidFill>
                  <a:srgbClr val="19344D"/>
                </a:solidFill>
              </a:defRPr>
            </a:pPr>
            <a:r>
              <a:rPr sz="2100" b="1">
                <a:solidFill>
                  <a:srgbClr val="19344D"/>
                </a:solidFill>
              </a:rPr>
              <a:t>Evidence returned to the user</a:t>
            </a:r>
          </a:p>
        </p:txBody>
      </p:sp>
      <p:sp>
        <p:nvSpPr>
          <p:cNvPr id="12" name="">
            <a:extLst xmlns:a="http://schemas.openxmlformats.org/drawingml/2006/main">
              <a:ext uri="{FF2B5EF4-FFF2-40B4-BE49-F238E27FC236}">
                <a16:creationId xmlns:a16="http://schemas.microsoft.com/office/drawing/2014/main" id="{CA460D40-B493-4669-9EA1-AA6649CE7FBA}"/>
              </a:ext>
            </a:extLst>
          </p:cNvPr>
          <p:cNvSpPr>
            <a:spLocks xmlns:a="http://schemas.openxmlformats.org/drawingml/2006/main" noGrp="1"/>
          </p:cNvSpPr>
          <p:nvPr/>
        </p:nvSpPr>
        <p:spPr>
          <a:xfrm xmlns:a="http://schemas.openxmlformats.org/drawingml/2006/main">
            <a:off x="666750" y="46767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16577"/>
                </a:solidFill>
              </a:defRPr>
            </a:defPPr>
          </a:lstStyle>
          <a:p xmlns:a="http://schemas.openxmlformats.org/drawingml/2006/main">
            <a:pPr>
              <a:defRPr sz="2025" b="0">
                <a:solidFill>
                  <a:srgbClr val="516577"/>
                </a:solidFill>
              </a:defRPr>
            </a:pPr>
            <a:r>
              <a:rPr sz="2025" b="0">
                <a:solidFill>
                  <a:srgbClr val="516577"/>
                </a:solidFill>
              </a:rPr>
              <a:t>Document and page citations, with source links subject to access checks.</a:t>
            </a:r>
          </a:p>
        </p:txBody>
      </p:sp>
    </p:spTree>
    <p:extLst>
      <p:ext uri="{BB962C8B-B14F-4D97-AF65-F5344CB8AC3E}">
        <p14:creationId xmlns:p14="http://schemas.microsoft.com/office/powerpoint/2010/main" val="1311318152"/>
      </p:ext>
    </p:extLst>
  </p:cSld>
</p:sld>
</file>

<file path=ppt/slides/slide14.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4DF00EF-2DA2-4205-99ED-464C3FFE7AC8}"/>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9344D"/>
                </a:solidFill>
              </a:defRPr>
            </a:defPPr>
          </a:lstStyle>
          <a:p xmlns:a="http://schemas.openxmlformats.org/drawingml/2006/main">
            <a:pPr>
              <a:defRPr sz="3150" b="1">
                <a:solidFill>
                  <a:srgbClr val="19344D"/>
                </a:solidFill>
              </a:defRPr>
            </a:pPr>
            <a:r>
              <a:rPr sz="3150" b="1">
                <a:solidFill>
                  <a:srgbClr val="19344D"/>
                </a:solidFill>
              </a:rPr>
              <a:t>Operations and acceptance criteria</a:t>
            </a:r>
          </a:p>
        </p:txBody>
      </p:sp>
      <p:sp>
        <p:nvSpPr>
          <p:cNvPr id="2" name="">
            <a:extLst xmlns:a="http://schemas.openxmlformats.org/drawingml/2006/main">
              <a:ext uri="{FF2B5EF4-FFF2-40B4-BE49-F238E27FC236}">
                <a16:creationId xmlns:a16="http://schemas.microsoft.com/office/drawing/2014/main" id="{FBC810E9-8BA2-4AD1-9A01-21F7A3913C30}"/>
              </a:ext>
            </a:extLst>
          </p:cNvPr>
          <p:cNvSpPr>
            <a:spLocks xmlns:a="http://schemas.openxmlformats.org/drawingml/2006/main" noGrp="1"/>
          </p:cNvSpPr>
          <p:nvPr/>
        </p:nvSpPr>
        <p:spPr>
          <a:xfrm xmlns:a="http://schemas.openxmlformats.org/drawingml/2006/main">
            <a:off x="609600" y="1162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577"/>
                </a:solidFill>
              </a:defRPr>
            </a:defPPr>
          </a:lstStyle>
          <a:p xmlns:a="http://schemas.openxmlformats.org/drawingml/2006/main">
            <a:pPr>
              <a:defRPr sz="1800" b="0">
                <a:solidFill>
                  <a:srgbClr val="516577"/>
                </a:solidFill>
              </a:defRPr>
            </a:pPr>
            <a:r>
              <a:rPr sz="1800" b="0">
                <a:solidFill>
                  <a:srgbClr val="516577"/>
                </a:solidFill>
              </a:rPr>
              <a:t>Production release depends on extraction quality and recovery behaviour.</a:t>
            </a:r>
          </a:p>
        </p:txBody>
      </p:sp>
      <p:sp>
        <p:nvSpPr>
          <p:cNvPr id="3" name="">
            <a:extLst xmlns:a="http://schemas.openxmlformats.org/drawingml/2006/main">
              <a:ext uri="{FF2B5EF4-FFF2-40B4-BE49-F238E27FC236}">
                <a16:creationId xmlns:a16="http://schemas.microsoft.com/office/drawing/2014/main" id="{DE04C4DD-2DA1-4F88-9473-FEF417DA3754}"/>
              </a:ext>
            </a:extLst>
          </p:cNvPr>
          <p:cNvSpPr>
            <a:spLocks xmlns:a="http://schemas.openxmlformats.org/drawingml/2006/main" noGrp="1"/>
          </p:cNvSpPr>
          <p:nvPr/>
        </p:nvSpPr>
        <p:spPr>
          <a:xfrm xmlns:a="http://schemas.openxmlformats.org/drawingml/2006/main">
            <a:off x="112776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577"/>
                </a:solidFill>
              </a:defRPr>
            </a:defPPr>
          </a:lstStyle>
          <a:p xmlns:a="http://schemas.openxmlformats.org/drawingml/2006/main">
            <a:pPr>
              <a:defRPr sz="1200" b="0">
                <a:solidFill>
                  <a:srgbClr val="516577"/>
                </a:solidFill>
              </a:defRPr>
            </a:pPr>
            <a:r>
              <a:rPr sz="1200" b="0">
                <a:solidFill>
                  <a:srgbClr val="516577"/>
                </a:solidFill>
              </a:rPr>
              <a:t>14</a:t>
            </a:r>
          </a:p>
        </p:txBody>
      </p:sp>
      <p:sp>
        <p:nvSpPr>
          <p:cNvPr id="4" name="">
            <a:extLst xmlns:a="http://schemas.openxmlformats.org/drawingml/2006/main">
              <a:ext uri="{FF2B5EF4-FFF2-40B4-BE49-F238E27FC236}">
                <a16:creationId xmlns:a16="http://schemas.microsoft.com/office/drawing/2014/main" id="{EFE8FF9A-0986-4A8E-99B2-8623C78AEBC7}"/>
              </a:ext>
            </a:extLst>
          </p:cNvPr>
          <p:cNvSpPr>
            <a:spLocks xmlns:a="http://schemas.openxmlformats.org/drawingml/2006/main" noGrp="1"/>
          </p:cNvSpPr>
          <p:nvPr/>
        </p:nvSpPr>
        <p:spPr>
          <a:xfrm xmlns:a="http://schemas.openxmlformats.org/drawingml/2006/main">
            <a:off x="666750" y="20955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Quality</a:t>
            </a:r>
          </a:p>
        </p:txBody>
      </p:sp>
      <p:sp>
        <p:nvSpPr>
          <p:cNvPr id="5" name="">
            <a:extLst xmlns:a="http://schemas.openxmlformats.org/drawingml/2006/main">
              <a:ext uri="{FF2B5EF4-FFF2-40B4-BE49-F238E27FC236}">
                <a16:creationId xmlns:a16="http://schemas.microsoft.com/office/drawing/2014/main" id="{90597F7B-2126-4572-B252-B6DBED5F1968}"/>
              </a:ext>
            </a:extLst>
          </p:cNvPr>
          <p:cNvSpPr>
            <a:spLocks xmlns:a="http://schemas.openxmlformats.org/drawingml/2006/main" noGrp="1"/>
          </p:cNvSpPr>
          <p:nvPr/>
        </p:nvSpPr>
        <p:spPr>
          <a:xfrm xmlns:a="http://schemas.openxmlformats.org/drawingml/2006/main">
            <a:off x="3810000" y="20955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Measure OCR errors, table fidelity and citation correctness.</a:t>
            </a:r>
          </a:p>
        </p:txBody>
      </p:sp>
      <p:sp>
        <p:nvSpPr>
          <p:cNvPr id="6" name="">
            <a:extLst xmlns:a="http://schemas.openxmlformats.org/drawingml/2006/main">
              <a:ext uri="{FF2B5EF4-FFF2-40B4-BE49-F238E27FC236}">
                <a16:creationId xmlns:a16="http://schemas.microsoft.com/office/drawing/2014/main" id="{2B26A3F0-53AA-4EC2-88A0-E51A253AA355}"/>
              </a:ext>
            </a:extLst>
          </p:cNvPr>
          <p:cNvSpPr>
            <a:spLocks xmlns:a="http://schemas.openxmlformats.org/drawingml/2006/main" noGrp="1"/>
          </p:cNvSpPr>
          <p:nvPr/>
        </p:nvSpPr>
        <p:spPr>
          <a:xfrm xmlns:a="http://schemas.openxmlformats.org/drawingml/2006/main">
            <a:off x="666750" y="29908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Reliability</a:t>
            </a:r>
          </a:p>
        </p:txBody>
      </p:sp>
      <p:sp>
        <p:nvSpPr>
          <p:cNvPr id="7" name="">
            <a:extLst xmlns:a="http://schemas.openxmlformats.org/drawingml/2006/main">
              <a:ext uri="{FF2B5EF4-FFF2-40B4-BE49-F238E27FC236}">
                <a16:creationId xmlns:a16="http://schemas.microsoft.com/office/drawing/2014/main" id="{0B3C7C5C-3A7B-471B-8148-D5EA7408B2CE}"/>
              </a:ext>
            </a:extLst>
          </p:cNvPr>
          <p:cNvSpPr>
            <a:spLocks xmlns:a="http://schemas.openxmlformats.org/drawingml/2006/main" noGrp="1"/>
          </p:cNvSpPr>
          <p:nvPr/>
        </p:nvSpPr>
        <p:spPr>
          <a:xfrm xmlns:a="http://schemas.openxmlformats.org/drawingml/2006/main">
            <a:off x="3810000" y="29908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Test duplicate jobs, GPU failures, retries and poison documents.</a:t>
            </a:r>
          </a:p>
        </p:txBody>
      </p:sp>
      <p:sp>
        <p:nvSpPr>
          <p:cNvPr id="8" name="">
            <a:extLst xmlns:a="http://schemas.openxmlformats.org/drawingml/2006/main">
              <a:ext uri="{FF2B5EF4-FFF2-40B4-BE49-F238E27FC236}">
                <a16:creationId xmlns:a16="http://schemas.microsoft.com/office/drawing/2014/main" id="{F93E0F60-B230-4FC6-A5A5-E2E8FFEC7E4C}"/>
              </a:ext>
            </a:extLst>
          </p:cNvPr>
          <p:cNvSpPr>
            <a:spLocks xmlns:a="http://schemas.openxmlformats.org/drawingml/2006/main" noGrp="1"/>
          </p:cNvSpPr>
          <p:nvPr/>
        </p:nvSpPr>
        <p:spPr>
          <a:xfrm xmlns:a="http://schemas.openxmlformats.org/drawingml/2006/main">
            <a:off x="666750" y="388620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Performance</a:t>
            </a:r>
          </a:p>
        </p:txBody>
      </p:sp>
      <p:sp>
        <p:nvSpPr>
          <p:cNvPr id="9" name="">
            <a:extLst xmlns:a="http://schemas.openxmlformats.org/drawingml/2006/main">
              <a:ext uri="{FF2B5EF4-FFF2-40B4-BE49-F238E27FC236}">
                <a16:creationId xmlns:a16="http://schemas.microsoft.com/office/drawing/2014/main" id="{811FB017-AAA9-4E7C-BBC8-82D61FB55419}"/>
              </a:ext>
            </a:extLst>
          </p:cNvPr>
          <p:cNvSpPr>
            <a:spLocks xmlns:a="http://schemas.openxmlformats.org/drawingml/2006/main" noGrp="1"/>
          </p:cNvSpPr>
          <p:nvPr/>
        </p:nvSpPr>
        <p:spPr>
          <a:xfrm xmlns:a="http://schemas.openxmlformats.org/drawingml/2006/main">
            <a:off x="3810000" y="388620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Track queue age, pages per minute, p95 latency and cost per page.</a:t>
            </a:r>
          </a:p>
        </p:txBody>
      </p:sp>
      <p:sp>
        <p:nvSpPr>
          <p:cNvPr id="10" name="">
            <a:extLst xmlns:a="http://schemas.openxmlformats.org/drawingml/2006/main">
              <a:ext uri="{FF2B5EF4-FFF2-40B4-BE49-F238E27FC236}">
                <a16:creationId xmlns:a16="http://schemas.microsoft.com/office/drawing/2014/main" id="{D3A4C44C-B12B-42DA-819D-96367BA30CF5}"/>
              </a:ext>
            </a:extLst>
          </p:cNvPr>
          <p:cNvSpPr>
            <a:spLocks xmlns:a="http://schemas.openxmlformats.org/drawingml/2006/main" noGrp="1"/>
          </p:cNvSpPr>
          <p:nvPr/>
        </p:nvSpPr>
        <p:spPr>
          <a:xfrm xmlns:a="http://schemas.openxmlformats.org/drawingml/2006/main">
            <a:off x="666750" y="47815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9344D"/>
                </a:solidFill>
              </a:defRPr>
            </a:defPPr>
          </a:lstStyle>
          <a:p xmlns:a="http://schemas.openxmlformats.org/drawingml/2006/main">
            <a:pPr>
              <a:defRPr sz="2025" b="1">
                <a:solidFill>
                  <a:srgbClr val="19344D"/>
                </a:solidFill>
              </a:defRPr>
            </a:pPr>
            <a:r>
              <a:rPr sz="2025" b="1">
                <a:solidFill>
                  <a:srgbClr val="19344D"/>
                </a:solidFill>
              </a:rPr>
              <a:t>Security</a:t>
            </a:r>
          </a:p>
        </p:txBody>
      </p:sp>
      <p:sp>
        <p:nvSpPr>
          <p:cNvPr id="11" name="">
            <a:extLst xmlns:a="http://schemas.openxmlformats.org/drawingml/2006/main">
              <a:ext uri="{FF2B5EF4-FFF2-40B4-BE49-F238E27FC236}">
                <a16:creationId xmlns:a16="http://schemas.microsoft.com/office/drawing/2014/main" id="{0F74F5B8-4DED-4869-8139-95B4C9A2BE3C}"/>
              </a:ext>
            </a:extLst>
          </p:cNvPr>
          <p:cNvSpPr>
            <a:spLocks xmlns:a="http://schemas.openxmlformats.org/drawingml/2006/main" noGrp="1"/>
          </p:cNvSpPr>
          <p:nvPr/>
        </p:nvSpPr>
        <p:spPr>
          <a:xfrm xmlns:a="http://schemas.openxmlformats.org/drawingml/2006/main">
            <a:off x="3810000" y="4781550"/>
            <a:ext cx="7524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Use workload IAM, encrypted storage and document ACLs.</a:t>
            </a:r>
          </a:p>
        </p:txBody>
      </p:sp>
    </p:spTree>
    <p:extLst>
      <p:ext uri="{BB962C8B-B14F-4D97-AF65-F5344CB8AC3E}">
        <p14:creationId xmlns:p14="http://schemas.microsoft.com/office/powerpoint/2010/main" val="842274330"/>
      </p:ext>
    </p:extLst>
  </p:cSld>
</p:sld>
</file>

<file path=ppt/slides/slide15.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533285F7-639A-4985-94A9-9BDE5DDD1E1E}"/>
              </a:ext>
            </a:extLst>
          </p:cNvPr>
          <p:cNvCxnSpPr>
            <a:stCxn xmlns:a="http://schemas.openxmlformats.org/drawingml/2006/main" id="6" idx="3"/>
            <a:endCxn xmlns:a="http://schemas.openxmlformats.org/drawingml/2006/main" id="7" idx="1"/>
          </p:cNvCxnSpPr>
          <p:nvPr/>
        </p:nvCxnSpPr>
        <p:spPr>
          <a:xfrm xmlns:a="http://schemas.openxmlformats.org/drawingml/2006/main">
            <a:off x="8724900" y="2857500"/>
            <a:ext cx="457200" cy="0"/>
          </a:xfrm>
          <a:prstGeom xmlns:a="http://schemas.openxmlformats.org/drawingml/2006/main" prst="straightConnector1">
            <a:avLst/>
          </a:prstGeom>
          <a:ln xmlns:a="http://schemas.openxmlformats.org/drawingml/2006/main" w="19050">
            <a:solidFill>
              <a:srgbClr val="7794AC"/>
            </a:solidFill>
            <a:tailEnd type="arrow" w="med" len="med"/>
          </a:ln>
        </p:spPr>
      </p:cxnSp>
      <p:cxnSp>
        <p:nvCxnSpPr>
          <p:cNvPr id="9" name="">
            <a:extLst xmlns:a="http://schemas.openxmlformats.org/drawingml/2006/main">
              <a:ext uri="{FF2B5EF4-FFF2-40B4-BE49-F238E27FC236}">
                <a16:creationId xmlns:a16="http://schemas.microsoft.com/office/drawing/2014/main" id="{742ABBAA-5F09-4ADE-AC59-5108D6B5828F}"/>
              </a:ext>
            </a:extLst>
          </p:cNvPr>
          <p:cNvCxnSpPr>
            <a:stCxn xmlns:a="http://schemas.openxmlformats.org/drawingml/2006/main" id="5" idx="3"/>
            <a:endCxn xmlns:a="http://schemas.openxmlformats.org/drawingml/2006/main" id="6" idx="1"/>
          </p:cNvCxnSpPr>
          <p:nvPr/>
        </p:nvCxnSpPr>
        <p:spPr>
          <a:xfrm xmlns:a="http://schemas.openxmlformats.org/drawingml/2006/main">
            <a:off x="5867400" y="2857500"/>
            <a:ext cx="457200" cy="0"/>
          </a:xfrm>
          <a:prstGeom xmlns:a="http://schemas.openxmlformats.org/drawingml/2006/main" prst="straightConnector1">
            <a:avLst/>
          </a:prstGeom>
          <a:ln xmlns:a="http://schemas.openxmlformats.org/drawingml/2006/main" w="19050">
            <a:solidFill>
              <a:srgbClr val="7794AC"/>
            </a:solidFill>
            <a:tailEnd type="arrow" w="med" len="med"/>
          </a:ln>
        </p:spPr>
      </p:cxnSp>
      <p:cxnSp>
        <p:nvCxnSpPr>
          <p:cNvPr id="8" name="">
            <a:extLst xmlns:a="http://schemas.openxmlformats.org/drawingml/2006/main">
              <a:ext uri="{FF2B5EF4-FFF2-40B4-BE49-F238E27FC236}">
                <a16:creationId xmlns:a16="http://schemas.microsoft.com/office/drawing/2014/main" id="{3125725B-124E-4A7D-90F4-9BC407FD5FCF}"/>
              </a:ext>
            </a:extLst>
          </p:cNvPr>
          <p:cNvCxnSpPr>
            <a:stCxn xmlns:a="http://schemas.openxmlformats.org/drawingml/2006/main" id="4" idx="3"/>
            <a:endCxn xmlns:a="http://schemas.openxmlformats.org/drawingml/2006/main" id="5" idx="1"/>
          </p:cNvCxnSpPr>
          <p:nvPr/>
        </p:nvCxnSpPr>
        <p:spPr>
          <a:xfrm xmlns:a="http://schemas.openxmlformats.org/drawingml/2006/main">
            <a:off x="3009900" y="2857500"/>
            <a:ext cx="457200" cy="0"/>
          </a:xfrm>
          <a:prstGeom xmlns:a="http://schemas.openxmlformats.org/drawingml/2006/main" prst="straightConnector1">
            <a:avLst/>
          </a:prstGeom>
          <a:ln xmlns:a="http://schemas.openxmlformats.org/drawingml/2006/main" w="19050">
            <a:solidFill>
              <a:srgbClr val="7794AC"/>
            </a:solidFill>
            <a:tailEnd type="arrow" w="med" len="med"/>
          </a:ln>
        </p:spPr>
      </p:cxnSp>
      <p:sp>
        <p:nvSpPr>
          <p:cNvPr id="14" name="">
            <a:extLst xmlns:a="http://schemas.openxmlformats.org/drawingml/2006/main">
              <a:ext uri="{FF2B5EF4-FFF2-40B4-BE49-F238E27FC236}">
                <a16:creationId xmlns:a16="http://schemas.microsoft.com/office/drawing/2014/main" id="{C4CC48DD-5A21-4B46-9FF4-601A92CC700F}"/>
              </a:ext>
            </a:extLst>
          </p:cNvPr>
          <p:cNvSpPr>
            <a:spLocks xmlns:a="http://schemas.openxmlformats.org/drawingml/2006/main" noGrp="1"/>
          </p:cNvSpPr>
          <p:nvPr/>
        </p:nvSpPr>
        <p:spPr>
          <a:xfrm xmlns:a="http://schemas.openxmlformats.org/drawingml/2006/main">
            <a:off x="609600" y="4381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9344D"/>
                </a:solidFill>
              </a:defRPr>
            </a:defPPr>
          </a:lstStyle>
          <a:p xmlns:a="http://schemas.openxmlformats.org/drawingml/2006/main">
            <a:pPr>
              <a:defRPr sz="3150" b="1">
                <a:solidFill>
                  <a:srgbClr val="19344D"/>
                </a:solidFill>
              </a:defRPr>
            </a:pPr>
            <a:r>
              <a:rPr sz="3150" b="1">
                <a:solidFill>
                  <a:srgbClr val="19344D"/>
                </a:solidFill>
              </a:rPr>
              <a:t>Rollout plan and decision gates</a:t>
            </a:r>
          </a:p>
        </p:txBody>
      </p:sp>
      <p:sp>
        <p:nvSpPr>
          <p:cNvPr id="2" name="">
            <a:extLst xmlns:a="http://schemas.openxmlformats.org/drawingml/2006/main">
              <a:ext uri="{FF2B5EF4-FFF2-40B4-BE49-F238E27FC236}">
                <a16:creationId xmlns:a16="http://schemas.microsoft.com/office/drawing/2014/main" id="{4C538283-0016-494A-B1A5-2C30A0E27BA1}"/>
              </a:ext>
            </a:extLst>
          </p:cNvPr>
          <p:cNvSpPr>
            <a:spLocks xmlns:a="http://schemas.openxmlformats.org/drawingml/2006/main" noGrp="1"/>
          </p:cNvSpPr>
          <p:nvPr/>
        </p:nvSpPr>
        <p:spPr>
          <a:xfrm xmlns:a="http://schemas.openxmlformats.org/drawingml/2006/main">
            <a:off x="609600" y="1162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16577"/>
                </a:solidFill>
              </a:defRPr>
            </a:defPPr>
          </a:lstStyle>
          <a:p xmlns:a="http://schemas.openxmlformats.org/drawingml/2006/main">
            <a:pPr>
              <a:defRPr sz="1800" b="0">
                <a:solidFill>
                  <a:srgbClr val="516577"/>
                </a:solidFill>
              </a:defRPr>
            </a:pPr>
            <a:r>
              <a:rPr sz="1800" b="0">
                <a:solidFill>
                  <a:srgbClr val="516577"/>
                </a:solidFill>
              </a:rPr>
              <a:t>Each phase produces evidence for the next deployment decision.</a:t>
            </a:r>
          </a:p>
        </p:txBody>
      </p:sp>
      <p:sp>
        <p:nvSpPr>
          <p:cNvPr id="3" name="">
            <a:extLst xmlns:a="http://schemas.openxmlformats.org/drawingml/2006/main">
              <a:ext uri="{FF2B5EF4-FFF2-40B4-BE49-F238E27FC236}">
                <a16:creationId xmlns:a16="http://schemas.microsoft.com/office/drawing/2014/main" id="{A7EC9E23-FF51-459A-A340-BD0A45F2BA4B}"/>
              </a:ext>
            </a:extLst>
          </p:cNvPr>
          <p:cNvSpPr>
            <a:spLocks xmlns:a="http://schemas.openxmlformats.org/drawingml/2006/main" noGrp="1"/>
          </p:cNvSpPr>
          <p:nvPr/>
        </p:nvSpPr>
        <p:spPr>
          <a:xfrm xmlns:a="http://schemas.openxmlformats.org/drawingml/2006/main">
            <a:off x="1127760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16577"/>
                </a:solidFill>
              </a:defRPr>
            </a:defPPr>
          </a:lstStyle>
          <a:p xmlns:a="http://schemas.openxmlformats.org/drawingml/2006/main">
            <a:pPr>
              <a:defRPr sz="1200" b="0">
                <a:solidFill>
                  <a:srgbClr val="516577"/>
                </a:solidFill>
              </a:defRPr>
            </a:pPr>
            <a:r>
              <a:rPr sz="1200" b="0">
                <a:solidFill>
                  <a:srgbClr val="516577"/>
                </a:solidFill>
              </a:rPr>
              <a:t>15</a:t>
            </a:r>
          </a:p>
        </p:txBody>
      </p:sp>
      <p:sp>
        <p:nvSpPr>
          <p:cNvPr id="4" name="">
            <a:extLst xmlns:a="http://schemas.openxmlformats.org/drawingml/2006/main">
              <a:ext uri="{FF2B5EF4-FFF2-40B4-BE49-F238E27FC236}">
                <a16:creationId xmlns:a16="http://schemas.microsoft.com/office/drawing/2014/main" id="{B1918319-54A8-4D77-A8DA-BA5B764CEA42}"/>
              </a:ext>
            </a:extLst>
          </p:cNvPr>
          <p:cNvSpPr>
            <a:spLocks xmlns:a="http://schemas.openxmlformats.org/drawingml/2006/main" noGrp="1"/>
          </p:cNvSpPr>
          <p:nvPr/>
        </p:nvSpPr>
        <p:spPr>
          <a:xfrm xmlns:a="http://schemas.openxmlformats.org/drawingml/2006/main">
            <a:off x="609600" y="2381250"/>
            <a:ext cx="2400300" cy="952500"/>
          </a:xfrm>
          <a:prstGeom xmlns:a="http://schemas.openxmlformats.org/drawingml/2006/main" prst="rect">
            <a:avLst/>
          </a:prstGeom>
          <a:solidFill xmlns:a="http://schemas.openxmlformats.org/drawingml/2006/main">
            <a:srgbClr val="E8F1FA"/>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Corpus benchmark</a:t>
            </a:r>
          </a:p>
        </p:txBody>
      </p:sp>
      <p:sp>
        <p:nvSpPr>
          <p:cNvPr id="5" name="">
            <a:extLst xmlns:a="http://schemas.openxmlformats.org/drawingml/2006/main">
              <a:ext uri="{FF2B5EF4-FFF2-40B4-BE49-F238E27FC236}">
                <a16:creationId xmlns:a16="http://schemas.microsoft.com/office/drawing/2014/main" id="{641CA5F1-F024-4485-BE4F-7BF3EE3263DE}"/>
              </a:ext>
            </a:extLst>
          </p:cNvPr>
          <p:cNvSpPr>
            <a:spLocks xmlns:a="http://schemas.openxmlformats.org/drawingml/2006/main" noGrp="1"/>
          </p:cNvSpPr>
          <p:nvPr/>
        </p:nvSpPr>
        <p:spPr>
          <a:xfrm xmlns:a="http://schemas.openxmlformats.org/drawingml/2006/main">
            <a:off x="3467100" y="2381250"/>
            <a:ext cx="2400300" cy="952500"/>
          </a:xfrm>
          <a:prstGeom xmlns:a="http://schemas.openxmlformats.org/drawingml/2006/main" prst="rect">
            <a:avLst/>
          </a:prstGeom>
          <a:solidFill xmlns:a="http://schemas.openxmlformats.org/drawingml/2006/main">
            <a:srgbClr val="E7F4F1"/>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EKS staging</a:t>
            </a:r>
          </a:p>
        </p:txBody>
      </p:sp>
      <p:sp>
        <p:nvSpPr>
          <p:cNvPr id="6" name="">
            <a:extLst xmlns:a="http://schemas.openxmlformats.org/drawingml/2006/main">
              <a:ext uri="{FF2B5EF4-FFF2-40B4-BE49-F238E27FC236}">
                <a16:creationId xmlns:a16="http://schemas.microsoft.com/office/drawing/2014/main" id="{6DEE055B-175A-4931-93F0-8250A1EF721B}"/>
              </a:ext>
            </a:extLst>
          </p:cNvPr>
          <p:cNvSpPr>
            <a:spLocks xmlns:a="http://schemas.openxmlformats.org/drawingml/2006/main" noGrp="1"/>
          </p:cNvSpPr>
          <p:nvPr/>
        </p:nvSpPr>
        <p:spPr>
          <a:xfrm xmlns:a="http://schemas.openxmlformats.org/drawingml/2006/main">
            <a:off x="6324600" y="2381250"/>
            <a:ext cx="2400300" cy="952500"/>
          </a:xfrm>
          <a:prstGeom xmlns:a="http://schemas.openxmlformats.org/drawingml/2006/main" prst="rect">
            <a:avLst/>
          </a:prstGeom>
          <a:solidFill xmlns:a="http://schemas.openxmlformats.org/drawingml/2006/main">
            <a:srgbClr val="E8F1FA"/>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Limited pilot</a:t>
            </a:r>
          </a:p>
        </p:txBody>
      </p:sp>
      <p:sp>
        <p:nvSpPr>
          <p:cNvPr id="7" name="">
            <a:extLst xmlns:a="http://schemas.openxmlformats.org/drawingml/2006/main">
              <a:ext uri="{FF2B5EF4-FFF2-40B4-BE49-F238E27FC236}">
                <a16:creationId xmlns:a16="http://schemas.microsoft.com/office/drawing/2014/main" id="{D35CF9EA-BBA4-4CEC-9906-2EFD6D454073}"/>
              </a:ext>
            </a:extLst>
          </p:cNvPr>
          <p:cNvSpPr>
            <a:spLocks xmlns:a="http://schemas.openxmlformats.org/drawingml/2006/main" noGrp="1"/>
          </p:cNvSpPr>
          <p:nvPr/>
        </p:nvSpPr>
        <p:spPr>
          <a:xfrm xmlns:a="http://schemas.openxmlformats.org/drawingml/2006/main">
            <a:off x="9182100" y="2381250"/>
            <a:ext cx="2400300" cy="952500"/>
          </a:xfrm>
          <a:prstGeom xmlns:a="http://schemas.openxmlformats.org/drawingml/2006/main" prst="rect">
            <a:avLst/>
          </a:prstGeom>
          <a:solidFill xmlns:a="http://schemas.openxmlformats.org/drawingml/2006/main">
            <a:srgbClr val="E7F4F1"/>
          </a:solidFill>
          <a:ln xmlns:a="http://schemas.openxmlformats.org/drawingml/2006/main" w="9525">
            <a:solidFill>
              <a:srgbClr val="7794AC"/>
            </a:solidFill>
          </a:ln>
        </p:spPr>
        <p:txBody>
          <a:bodyPr xmlns:a="http://schemas.openxmlformats.org/drawingml/2006/main" anchor="ctr"/>
          <a:lstStyle xmlns:a="http://schemas.openxmlformats.org/drawingml/2006/main">
            <a:defPPr algn="ctr">
              <a:defRPr sz="1875" b="1">
                <a:solidFill>
                  <a:srgbClr val="19344D"/>
                </a:solidFill>
              </a:defRPr>
            </a:defPPr>
          </a:lstStyle>
          <a:p xmlns:a="http://schemas.openxmlformats.org/drawingml/2006/main">
            <a:pPr algn="ctr">
              <a:defRPr sz="1875" b="1">
                <a:solidFill>
                  <a:srgbClr val="19344D"/>
                </a:solidFill>
              </a:defRPr>
            </a:pPr>
            <a:r>
              <a:rPr sz="1875" b="1">
                <a:solidFill>
                  <a:srgbClr val="19344D"/>
                </a:solidFill>
              </a:rPr>
              <a:t>Production</a:t>
            </a:r>
          </a:p>
        </p:txBody>
      </p:sp>
      <p:sp>
        <p:nvSpPr>
          <p:cNvPr id="11" name="">
            <a:extLst xmlns:a="http://schemas.openxmlformats.org/drawingml/2006/main">
              <a:ext uri="{FF2B5EF4-FFF2-40B4-BE49-F238E27FC236}">
                <a16:creationId xmlns:a16="http://schemas.microsoft.com/office/drawing/2014/main" id="{2C4B674A-FAFA-4D77-8B12-515AAED37CAC}"/>
              </a:ext>
            </a:extLst>
          </p:cNvPr>
          <p:cNvSpPr>
            <a:spLocks xmlns:a="http://schemas.openxmlformats.org/drawingml/2006/main" noGrp="1"/>
          </p:cNvSpPr>
          <p:nvPr/>
        </p:nvSpPr>
        <p:spPr>
          <a:xfrm xmlns:a="http://schemas.openxmlformats.org/drawingml/2006/main">
            <a:off x="666750" y="39052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9344D"/>
                </a:solidFill>
              </a:defRPr>
            </a:defPPr>
          </a:lstStyle>
          <a:p xmlns:a="http://schemas.openxmlformats.org/drawingml/2006/main">
            <a:pPr>
              <a:defRPr sz="2100" b="1">
                <a:solidFill>
                  <a:srgbClr val="19344D"/>
                </a:solidFill>
              </a:defRPr>
            </a:pPr>
            <a:r>
              <a:rPr sz="2100" b="1">
                <a:solidFill>
                  <a:srgbClr val="19344D"/>
                </a:solidFill>
              </a:rPr>
              <a:t>Exit criteria</a:t>
            </a:r>
          </a:p>
        </p:txBody>
      </p:sp>
      <p:sp>
        <p:nvSpPr>
          <p:cNvPr id="12" name="">
            <a:extLst xmlns:a="http://schemas.openxmlformats.org/drawingml/2006/main">
              <a:ext uri="{FF2B5EF4-FFF2-40B4-BE49-F238E27FC236}">
                <a16:creationId xmlns:a16="http://schemas.microsoft.com/office/drawing/2014/main" id="{CE234783-4E96-4B29-9893-57D8846F6204}"/>
              </a:ext>
            </a:extLst>
          </p:cNvPr>
          <p:cNvSpPr>
            <a:spLocks xmlns:a="http://schemas.openxmlformats.org/drawingml/2006/main" noGrp="1"/>
          </p:cNvSpPr>
          <p:nvPr/>
        </p:nvSpPr>
        <p:spPr>
          <a:xfrm xmlns:a="http://schemas.openxmlformats.org/drawingml/2006/main">
            <a:off x="3810000" y="3905250"/>
            <a:ext cx="752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344D"/>
                </a:solidFill>
              </a:defRPr>
            </a:defPPr>
          </a:lstStyle>
          <a:p xmlns:a="http://schemas.openxmlformats.org/drawingml/2006/main">
            <a:pPr>
              <a:defRPr sz="1950" b="0">
                <a:solidFill>
                  <a:srgbClr val="19344D"/>
                </a:solidFill>
              </a:defRPr>
            </a:pPr>
            <a:r>
              <a:rPr sz="1950" b="0">
                <a:solidFill>
                  <a:srgbClr val="19344D"/>
                </a:solidFill>
              </a:rPr>
              <a:t>Quality baseline, recovery tests, approved cost and operational ownership.</a:t>
            </a:r>
          </a:p>
        </p:txBody>
      </p:sp>
      <p:sp>
        <p:nvSpPr>
          <p:cNvPr id="13" name="">
            <a:extLst xmlns:a="http://schemas.openxmlformats.org/drawingml/2006/main">
              <a:ext uri="{FF2B5EF4-FFF2-40B4-BE49-F238E27FC236}">
                <a16:creationId xmlns:a16="http://schemas.microsoft.com/office/drawing/2014/main" id="{CBFE9478-72FC-4739-9B3C-2E21AA44CB6A}"/>
              </a:ext>
            </a:extLst>
          </p:cNvPr>
          <p:cNvSpPr>
            <a:spLocks xmlns:a="http://schemas.openxmlformats.org/drawingml/2006/main" noGrp="1"/>
          </p:cNvSpPr>
          <p:nvPr/>
        </p:nvSpPr>
        <p:spPr>
          <a:xfrm xmlns:a="http://schemas.openxmlformats.org/drawingml/2006/main">
            <a:off x="666750" y="53530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16577"/>
                </a:solidFill>
              </a:defRPr>
            </a:defPPr>
          </a:lstStyle>
          <a:p xmlns:a="http://schemas.openxmlformats.org/drawingml/2006/main">
            <a:pPr>
              <a:defRPr sz="1875" b="0">
                <a:solidFill>
                  <a:srgbClr val="516577"/>
                </a:solidFill>
              </a:defRPr>
            </a:pPr>
            <a:r>
              <a:rPr sz="1875" b="0">
                <a:solidFill>
                  <a:srgbClr val="516577"/>
                </a:solidFill>
              </a:rPr>
              <a:t>Decision needed: tested release, GPU capacity, service targets and rollout owner.</a:t>
            </a:r>
          </a:p>
        </p:txBody>
      </p:sp>
    </p:spTree>
    <p:extLst>
      <p:ext uri="{BB962C8B-B14F-4D97-AF65-F5344CB8AC3E}">
        <p14:creationId xmlns:p14="http://schemas.microsoft.com/office/powerpoint/2010/main" val="20370695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2026-10-13T10:30:37.9710000Z</dcterms:created>
  <dcterms:modified xsi:type="dcterms:W3CDTF">2026-10-13T10:30:37.9710000Z</dcterms:modified>
</coreProperties>
</file>